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8" r:id="rId2"/>
    <p:sldId id="260" r:id="rId3"/>
    <p:sldId id="262" r:id="rId4"/>
    <p:sldId id="265" r:id="rId5"/>
    <p:sldId id="267" r:id="rId6"/>
    <p:sldId id="269" r:id="rId7"/>
    <p:sldId id="268" r:id="rId8"/>
    <p:sldId id="271" r:id="rId9"/>
    <p:sldId id="261" r:id="rId10"/>
    <p:sldId id="264" r:id="rId11"/>
    <p:sldId id="25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68310" autoAdjust="0"/>
  </p:normalViewPr>
  <p:slideViewPr>
    <p:cSldViewPr snapToGrid="0">
      <p:cViewPr varScale="1">
        <p:scale>
          <a:sx n="78" d="100"/>
          <a:sy n="78" d="100"/>
        </p:scale>
        <p:origin x="181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Z"/>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14DB0F-31D6-47E2-8509-11E5E4721B0D}" type="datetimeFigureOut">
              <a:rPr lang="en-NZ" smtClean="0"/>
              <a:t>28/06/2018</a:t>
            </a:fld>
            <a:endParaRPr lang="en-NZ"/>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Z"/>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Z"/>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B0D373-72FC-40E4-AA75-C91E2A7BDB44}" type="slidenum">
              <a:rPr lang="en-NZ" smtClean="0"/>
              <a:t>‹#›</a:t>
            </a:fld>
            <a:endParaRPr lang="en-NZ"/>
          </a:p>
        </p:txBody>
      </p:sp>
    </p:spTree>
    <p:extLst>
      <p:ext uri="{BB962C8B-B14F-4D97-AF65-F5344CB8AC3E}">
        <p14:creationId xmlns:p14="http://schemas.microsoft.com/office/powerpoint/2010/main" val="11199412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github.com/redhat-cop/openshift-playbooks/blob/master/playbooks/operationalizing/monitoring_guide.adoc"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github.com/redhat-cop/openshift-playbooks/blob/master/playbooks/operationalizing/monitoring_guide.adoc"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Introductions:</a:t>
            </a:r>
          </a:p>
          <a:p>
            <a:endParaRPr lang="en-NZ" dirty="0"/>
          </a:p>
          <a:p>
            <a:r>
              <a:rPr lang="en-NZ" dirty="0"/>
              <a:t>Introduce</a:t>
            </a:r>
            <a:r>
              <a:rPr lang="en-NZ" baseline="0" dirty="0"/>
              <a:t> title; Understand the need for speed; Time to market;</a:t>
            </a:r>
          </a:p>
          <a:p>
            <a:r>
              <a:rPr lang="en-NZ" baseline="0" dirty="0"/>
              <a:t>Golf-course to Production; Flow, pipeline, feedback loops</a:t>
            </a:r>
          </a:p>
          <a:p>
            <a:endParaRPr lang="en-NZ" baseline="0" dirty="0"/>
          </a:p>
          <a:p>
            <a:endParaRPr lang="en-NZ" dirty="0"/>
          </a:p>
        </p:txBody>
      </p:sp>
      <p:sp>
        <p:nvSpPr>
          <p:cNvPr id="4" name="Slide Number Placeholder 3"/>
          <p:cNvSpPr>
            <a:spLocks noGrp="1"/>
          </p:cNvSpPr>
          <p:nvPr>
            <p:ph type="sldNum" sz="quarter" idx="10"/>
          </p:nvPr>
        </p:nvSpPr>
        <p:spPr/>
        <p:txBody>
          <a:bodyPr/>
          <a:lstStyle/>
          <a:p>
            <a:fld id="{00B0D373-72FC-40E4-AA75-C91E2A7BDB44}" type="slidenum">
              <a:rPr lang="en-NZ" smtClean="0"/>
              <a:t>1</a:t>
            </a:fld>
            <a:endParaRPr lang="en-NZ"/>
          </a:p>
        </p:txBody>
      </p:sp>
    </p:spTree>
    <p:extLst>
      <p:ext uri="{BB962C8B-B14F-4D97-AF65-F5344CB8AC3E}">
        <p14:creationId xmlns:p14="http://schemas.microsoft.com/office/powerpoint/2010/main" val="10391143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NZ" baseline="0" dirty="0"/>
              <a:t>It is all DevOps; Wake up everyone in the enterprise; Having great capabilities in organization it terms of platform </a:t>
            </a:r>
          </a:p>
          <a:p>
            <a:endParaRPr lang="en-NZ" dirty="0"/>
          </a:p>
          <a:p>
            <a:r>
              <a:rPr lang="en-NZ" dirty="0"/>
              <a:t>You do not have time</a:t>
            </a:r>
            <a:r>
              <a:rPr lang="en-NZ" baseline="0" dirty="0"/>
              <a:t> and resources in your reach to do the best for given context; Speed compromises quality, quality compromises cost; cost compromises scope; </a:t>
            </a:r>
          </a:p>
          <a:p>
            <a:endParaRPr lang="en-NZ" dirty="0"/>
          </a:p>
        </p:txBody>
      </p:sp>
      <p:sp>
        <p:nvSpPr>
          <p:cNvPr id="4" name="Slide Number Placeholder 3"/>
          <p:cNvSpPr>
            <a:spLocks noGrp="1"/>
          </p:cNvSpPr>
          <p:nvPr>
            <p:ph type="sldNum" sz="quarter" idx="10"/>
          </p:nvPr>
        </p:nvSpPr>
        <p:spPr/>
        <p:txBody>
          <a:bodyPr/>
          <a:lstStyle/>
          <a:p>
            <a:fld id="{00B0D373-72FC-40E4-AA75-C91E2A7BDB44}" type="slidenum">
              <a:rPr lang="en-NZ" smtClean="0"/>
              <a:t>4</a:t>
            </a:fld>
            <a:endParaRPr lang="en-NZ"/>
          </a:p>
        </p:txBody>
      </p:sp>
    </p:spTree>
    <p:extLst>
      <p:ext uri="{BB962C8B-B14F-4D97-AF65-F5344CB8AC3E}">
        <p14:creationId xmlns:p14="http://schemas.microsoft.com/office/powerpoint/2010/main" val="13503428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dirty="0"/>
              <a:t>Even</a:t>
            </a:r>
            <a:r>
              <a:rPr lang="en-NZ" baseline="0" dirty="0"/>
              <a:t> if you have containerized platform it is not easy; Every organization has their own challenges.</a:t>
            </a:r>
          </a:p>
          <a:p>
            <a:endParaRPr lang="en-NZ" baseline="0" dirty="0"/>
          </a:p>
          <a:p>
            <a:r>
              <a:rPr lang="en-NZ" sz="1200" b="0" i="0" kern="1200" dirty="0">
                <a:solidFill>
                  <a:schemeClr val="tx1"/>
                </a:solidFill>
                <a:effectLst/>
                <a:latin typeface="+mn-lt"/>
                <a:ea typeface="+mn-ea"/>
                <a:cs typeface="+mn-cs"/>
              </a:rPr>
              <a:t>Red Hat OpenShift Container Platform is the first and only hybrid cloud solution delivering enterprise-grade Kubernetes and Linux containers, based on Red Hat Enterprise Linux, the world’s leading enterprise Linux platform.</a:t>
            </a:r>
            <a:endParaRPr lang="en-NZ" baseline="0" dirty="0"/>
          </a:p>
          <a:p>
            <a:endParaRPr lang="en-NZ" dirty="0"/>
          </a:p>
        </p:txBody>
      </p:sp>
      <p:sp>
        <p:nvSpPr>
          <p:cNvPr id="4" name="Slide Number Placeholder 3"/>
          <p:cNvSpPr>
            <a:spLocks noGrp="1"/>
          </p:cNvSpPr>
          <p:nvPr>
            <p:ph type="sldNum" sz="quarter" idx="10"/>
          </p:nvPr>
        </p:nvSpPr>
        <p:spPr/>
        <p:txBody>
          <a:bodyPr/>
          <a:lstStyle/>
          <a:p>
            <a:fld id="{00B0D373-72FC-40E4-AA75-C91E2A7BDB44}" type="slidenum">
              <a:rPr lang="en-NZ" smtClean="0"/>
              <a:t>6</a:t>
            </a:fld>
            <a:endParaRPr lang="en-NZ"/>
          </a:p>
        </p:txBody>
      </p:sp>
    </p:spTree>
    <p:extLst>
      <p:ext uri="{BB962C8B-B14F-4D97-AF65-F5344CB8AC3E}">
        <p14:creationId xmlns:p14="http://schemas.microsoft.com/office/powerpoint/2010/main" val="19269490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We are monitoring the standard endpoints and processes based on </a:t>
            </a:r>
            <a:r>
              <a:rPr lang="en-NZ" sz="1200" u="sng" kern="1200" dirty="0">
                <a:solidFill>
                  <a:schemeClr val="tx1"/>
                </a:solidFill>
                <a:effectLst/>
                <a:latin typeface="+mn-lt"/>
                <a:ea typeface="+mn-ea"/>
                <a:cs typeface="+mn-cs"/>
                <a:hlinkClick r:id="rId3"/>
              </a:rPr>
              <a:t>https://github.com/redhat-cop/openshift-playbooks/blob/master/playbooks/operationalizing/monitoring_guide.adoc</a:t>
            </a:r>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We have built some custom monitoring scripts to help monitor and alert on capacity and performance issues. </a:t>
            </a:r>
          </a:p>
          <a:p>
            <a:r>
              <a:rPr lang="en-NZ" sz="1200" kern="1200" dirty="0">
                <a:solidFill>
                  <a:schemeClr val="tx1"/>
                </a:solidFill>
                <a:effectLst/>
                <a:latin typeface="+mn-lt"/>
                <a:ea typeface="+mn-ea"/>
                <a:cs typeface="+mn-cs"/>
              </a:rPr>
              <a:t> </a:t>
            </a:r>
          </a:p>
          <a:p>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a:t>
            </a:r>
            <a:r>
              <a:rPr lang="en-NZ" sz="1200" kern="1200" dirty="0" err="1">
                <a:solidFill>
                  <a:schemeClr val="tx1"/>
                </a:solidFill>
                <a:effectLst/>
                <a:latin typeface="+mn-lt"/>
                <a:ea typeface="+mn-ea"/>
                <a:cs typeface="+mn-cs"/>
              </a:rPr>
              <a:t>registery</a:t>
            </a:r>
            <a:r>
              <a:rPr lang="en-NZ" sz="1200" kern="1200" dirty="0">
                <a:solidFill>
                  <a:schemeClr val="tx1"/>
                </a:solidFill>
                <a:effectLst/>
                <a:latin typeface="+mn-lt"/>
                <a:ea typeface="+mn-ea"/>
                <a:cs typeface="+mn-cs"/>
              </a:rPr>
              <a:t>-monitor which does a pull and push to the </a:t>
            </a:r>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 registry every 5 minutes .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persistent-volume-monitor which checks how many persistent volumes we have left that can be used</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build-max-pod-monitor this monitors our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builder nodes to make sure we are not hitting the max pods for the builder nodes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app-max-pod-monitor this will make sure we are not hitting max pods for our compute nodes </a:t>
            </a:r>
          </a:p>
          <a:p>
            <a:endParaRPr lang="en-NZ" sz="1200" kern="1200" dirty="0">
              <a:solidFill>
                <a:schemeClr val="tx1"/>
              </a:solidFill>
              <a:effectLst/>
              <a:latin typeface="+mn-lt"/>
              <a:ea typeface="+mn-ea"/>
              <a:cs typeface="+mn-cs"/>
            </a:endParaRPr>
          </a:p>
          <a:p>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-pool-monitor to monitor the </a:t>
            </a:r>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 pool's on the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nodes, to ensure we are not going to run out of disk for the </a:t>
            </a:r>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 thin pools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cert monitor, we have a script that runs once every day to check that none of the certs are due to expire in the next month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We have standard OS monitoring on all the nodes (and masters) CPU, mem swap etc.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security </a:t>
            </a:r>
          </a:p>
          <a:p>
            <a:r>
              <a:rPr lang="en-NZ" sz="1200" kern="1200" dirty="0">
                <a:solidFill>
                  <a:schemeClr val="tx1"/>
                </a:solidFill>
                <a:effectLst/>
                <a:latin typeface="+mn-lt"/>
                <a:ea typeface="+mn-ea"/>
                <a:cs typeface="+mn-cs"/>
              </a:rPr>
              <a:t>We use </a:t>
            </a:r>
            <a:r>
              <a:rPr lang="en-NZ" sz="1200" kern="1200" dirty="0" err="1">
                <a:solidFill>
                  <a:schemeClr val="tx1"/>
                </a:solidFill>
                <a:effectLst/>
                <a:latin typeface="+mn-lt"/>
                <a:ea typeface="+mn-ea"/>
                <a:cs typeface="+mn-cs"/>
              </a:rPr>
              <a:t>cloudforms</a:t>
            </a:r>
            <a:r>
              <a:rPr lang="en-NZ" sz="1200" kern="1200" dirty="0">
                <a:solidFill>
                  <a:schemeClr val="tx1"/>
                </a:solidFill>
                <a:effectLst/>
                <a:latin typeface="+mn-lt"/>
                <a:ea typeface="+mn-ea"/>
                <a:cs typeface="+mn-cs"/>
              </a:rPr>
              <a:t> which scans all of the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servers using </a:t>
            </a:r>
            <a:r>
              <a:rPr lang="en-NZ" sz="1200" kern="1200" dirty="0" err="1">
                <a:solidFill>
                  <a:schemeClr val="tx1"/>
                </a:solidFill>
                <a:effectLst/>
                <a:latin typeface="+mn-lt"/>
                <a:ea typeface="+mn-ea"/>
                <a:cs typeface="+mn-cs"/>
              </a:rPr>
              <a:t>openscap</a:t>
            </a:r>
            <a:r>
              <a:rPr lang="en-NZ" sz="1200" kern="1200" dirty="0">
                <a:solidFill>
                  <a:schemeClr val="tx1"/>
                </a:solidFill>
                <a:effectLst/>
                <a:latin typeface="+mn-lt"/>
                <a:ea typeface="+mn-ea"/>
                <a:cs typeface="+mn-cs"/>
              </a:rPr>
              <a:t> and reporting on which container images have high severity security CVE's. I think we need to do more in this space (</a:t>
            </a:r>
            <a:r>
              <a:rPr lang="en-NZ" sz="1200" kern="1200" dirty="0" err="1">
                <a:solidFill>
                  <a:schemeClr val="tx1"/>
                </a:solidFill>
                <a:effectLst/>
                <a:latin typeface="+mn-lt"/>
                <a:ea typeface="+mn-ea"/>
                <a:cs typeface="+mn-cs"/>
              </a:rPr>
              <a:t>intergrating</a:t>
            </a:r>
            <a:r>
              <a:rPr lang="en-NZ" sz="1200" kern="1200" dirty="0">
                <a:solidFill>
                  <a:schemeClr val="tx1"/>
                </a:solidFill>
                <a:effectLst/>
                <a:latin typeface="+mn-lt"/>
                <a:ea typeface="+mn-ea"/>
                <a:cs typeface="+mn-cs"/>
              </a:rPr>
              <a:t> some scanning into the pipelines)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logging </a:t>
            </a:r>
          </a:p>
          <a:p>
            <a:r>
              <a:rPr lang="en-NZ" sz="1200" kern="1200" dirty="0">
                <a:solidFill>
                  <a:schemeClr val="tx1"/>
                </a:solidFill>
                <a:effectLst/>
                <a:latin typeface="+mn-lt"/>
                <a:ea typeface="+mn-ea"/>
                <a:cs typeface="+mn-cs"/>
              </a:rPr>
              <a:t>Currently using elastic search, </a:t>
            </a:r>
            <a:r>
              <a:rPr lang="en-NZ" sz="1200" kern="1200" dirty="0" err="1">
                <a:solidFill>
                  <a:schemeClr val="tx1"/>
                </a:solidFill>
                <a:effectLst/>
                <a:latin typeface="+mn-lt"/>
                <a:ea typeface="+mn-ea"/>
                <a:cs typeface="+mn-cs"/>
              </a:rPr>
              <a:t>fluentd</a:t>
            </a:r>
            <a:r>
              <a:rPr lang="en-NZ" sz="1200" kern="1200" dirty="0">
                <a:solidFill>
                  <a:schemeClr val="tx1"/>
                </a:solidFill>
                <a:effectLst/>
                <a:latin typeface="+mn-lt"/>
                <a:ea typeface="+mn-ea"/>
                <a:cs typeface="+mn-cs"/>
              </a:rPr>
              <a:t> and </a:t>
            </a:r>
            <a:r>
              <a:rPr lang="en-NZ" sz="1200" kern="1200" dirty="0" err="1">
                <a:solidFill>
                  <a:schemeClr val="tx1"/>
                </a:solidFill>
                <a:effectLst/>
                <a:latin typeface="+mn-lt"/>
                <a:ea typeface="+mn-ea"/>
                <a:cs typeface="+mn-cs"/>
              </a:rPr>
              <a:t>kibana</a:t>
            </a:r>
            <a:r>
              <a:rPr lang="en-NZ" sz="1200" kern="1200" dirty="0">
                <a:solidFill>
                  <a:schemeClr val="tx1"/>
                </a:solidFill>
                <a:effectLst/>
                <a:latin typeface="+mn-lt"/>
                <a:ea typeface="+mn-ea"/>
                <a:cs typeface="+mn-cs"/>
              </a:rPr>
              <a:t> (EFK), but we are working on migrating this to </a:t>
            </a:r>
            <a:r>
              <a:rPr lang="en-NZ" sz="1200" kern="1200" dirty="0" err="1">
                <a:solidFill>
                  <a:schemeClr val="tx1"/>
                </a:solidFill>
                <a:effectLst/>
                <a:latin typeface="+mn-lt"/>
                <a:ea typeface="+mn-ea"/>
                <a:cs typeface="+mn-cs"/>
              </a:rPr>
              <a:t>splunk</a:t>
            </a:r>
            <a:r>
              <a:rPr lang="en-NZ" sz="1200" kern="1200" dirty="0">
                <a:solidFill>
                  <a:schemeClr val="tx1"/>
                </a:solidFill>
                <a:effectLst/>
                <a:latin typeface="+mn-lt"/>
                <a:ea typeface="+mn-ea"/>
                <a:cs typeface="+mn-cs"/>
              </a:rPr>
              <a:t>. We have found ELK to be not as reliable.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pipeline </a:t>
            </a:r>
          </a:p>
          <a:p>
            <a:r>
              <a:rPr lang="en-NZ" sz="1200" kern="1200" dirty="0">
                <a:solidFill>
                  <a:schemeClr val="tx1"/>
                </a:solidFill>
                <a:effectLst/>
                <a:latin typeface="+mn-lt"/>
                <a:ea typeface="+mn-ea"/>
                <a:cs typeface="+mn-cs"/>
              </a:rPr>
              <a:t>The pipelines are expanding, there are new pipelines being built every day, and having a well-documented pattern is crucial. We are using Jenkins with the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plugin, and using a </a:t>
            </a:r>
            <a:r>
              <a:rPr lang="en-NZ" sz="1200" kern="1200" dirty="0" err="1">
                <a:solidFill>
                  <a:schemeClr val="tx1"/>
                </a:solidFill>
                <a:effectLst/>
                <a:latin typeface="+mn-lt"/>
                <a:ea typeface="+mn-ea"/>
                <a:cs typeface="+mn-cs"/>
              </a:rPr>
              <a:t>jenkinsfile</a:t>
            </a:r>
            <a:r>
              <a:rPr lang="en-NZ" sz="1200" kern="1200" dirty="0">
                <a:solidFill>
                  <a:schemeClr val="tx1"/>
                </a:solidFill>
                <a:effectLst/>
                <a:latin typeface="+mn-lt"/>
                <a:ea typeface="+mn-ea"/>
                <a:cs typeface="+mn-cs"/>
              </a:rPr>
              <a:t>. This allows us to use ephemeral </a:t>
            </a:r>
            <a:r>
              <a:rPr lang="en-NZ" sz="1200" kern="1200" dirty="0" err="1">
                <a:solidFill>
                  <a:schemeClr val="tx1"/>
                </a:solidFill>
                <a:effectLst/>
                <a:latin typeface="+mn-lt"/>
                <a:ea typeface="+mn-ea"/>
                <a:cs typeface="+mn-cs"/>
              </a:rPr>
              <a:t>jenkins</a:t>
            </a:r>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When the pipelines are working well, things are great. However our current pattern seems to be quite fiddley and complicated where it's getting rather difficult to support.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Playbooks</a:t>
            </a:r>
          </a:p>
          <a:p>
            <a:r>
              <a:rPr lang="en-NZ" sz="1200" kern="1200" dirty="0">
                <a:solidFill>
                  <a:schemeClr val="tx1"/>
                </a:solidFill>
                <a:effectLst/>
                <a:latin typeface="+mn-lt"/>
                <a:ea typeface="+mn-ea"/>
                <a:cs typeface="+mn-cs"/>
              </a:rPr>
              <a:t>OpenShift playbooks do:</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In a nutshell</a:t>
            </a:r>
          </a:p>
          <a:p>
            <a:pPr lvl="0"/>
            <a:r>
              <a:rPr lang="en-NZ" sz="1200" kern="1200" dirty="0">
                <a:solidFill>
                  <a:schemeClr val="tx1"/>
                </a:solidFill>
                <a:effectLst/>
                <a:latin typeface="+mn-lt"/>
                <a:ea typeface="+mn-ea"/>
                <a:cs typeface="+mn-cs"/>
              </a:rPr>
              <a:t>Ensures OpenShift projects are kept consistent with the source of truth (Git). This reduces the amount of human intervention and therefore human error at deployment time.</a:t>
            </a:r>
          </a:p>
          <a:p>
            <a:r>
              <a:rPr lang="en-NZ" sz="1200" kern="1200" dirty="0">
                <a:solidFill>
                  <a:schemeClr val="tx1"/>
                </a:solidFill>
                <a:effectLst/>
                <a:latin typeface="+mn-lt"/>
                <a:ea typeface="+mn-ea"/>
                <a:cs typeface="+mn-cs"/>
              </a:rPr>
              <a:t>In detail</a:t>
            </a:r>
          </a:p>
          <a:p>
            <a:pPr lvl="0"/>
            <a:r>
              <a:rPr lang="en-NZ" sz="1200" kern="1200" dirty="0">
                <a:solidFill>
                  <a:schemeClr val="tx1"/>
                </a:solidFill>
                <a:effectLst/>
                <a:latin typeface="+mn-lt"/>
                <a:ea typeface="+mn-ea"/>
                <a:cs typeface="+mn-cs"/>
              </a:rPr>
              <a:t>Executed before deploying to a given environment</a:t>
            </a:r>
          </a:p>
          <a:p>
            <a:pPr lvl="0"/>
            <a:r>
              <a:rPr lang="en-NZ" sz="1200" kern="1200" dirty="0">
                <a:solidFill>
                  <a:schemeClr val="tx1"/>
                </a:solidFill>
                <a:effectLst/>
                <a:latin typeface="+mn-lt"/>
                <a:ea typeface="+mn-ea"/>
                <a:cs typeface="+mn-cs"/>
              </a:rPr>
              <a:t>Downloads the latest configuration from Git and:</a:t>
            </a:r>
          </a:p>
          <a:p>
            <a:pPr lvl="1"/>
            <a:r>
              <a:rPr lang="en-NZ" sz="1200" kern="1200" dirty="0">
                <a:solidFill>
                  <a:schemeClr val="tx1"/>
                </a:solidFill>
                <a:effectLst/>
                <a:latin typeface="+mn-lt"/>
                <a:ea typeface="+mn-ea"/>
                <a:cs typeface="+mn-cs"/>
              </a:rPr>
              <a:t>Updates </a:t>
            </a:r>
            <a:r>
              <a:rPr lang="en-NZ" sz="1200" kern="1200" dirty="0" err="1">
                <a:solidFill>
                  <a:schemeClr val="tx1"/>
                </a:solidFill>
                <a:effectLst/>
                <a:latin typeface="+mn-lt"/>
                <a:ea typeface="+mn-ea"/>
                <a:cs typeface="+mn-cs"/>
              </a:rPr>
              <a:t>BuildConfig</a:t>
            </a:r>
            <a:endParaRPr lang="en-NZ" sz="1200" kern="1200" dirty="0">
              <a:solidFill>
                <a:schemeClr val="tx1"/>
              </a:solidFill>
              <a:effectLst/>
              <a:latin typeface="+mn-lt"/>
              <a:ea typeface="+mn-ea"/>
              <a:cs typeface="+mn-cs"/>
            </a:endParaRPr>
          </a:p>
          <a:p>
            <a:pPr lvl="1"/>
            <a:r>
              <a:rPr lang="en-NZ" sz="1200" kern="1200" dirty="0">
                <a:solidFill>
                  <a:schemeClr val="tx1"/>
                </a:solidFill>
                <a:effectLst/>
                <a:latin typeface="+mn-lt"/>
                <a:ea typeface="+mn-ea"/>
                <a:cs typeface="+mn-cs"/>
              </a:rPr>
              <a:t>Updates </a:t>
            </a:r>
            <a:r>
              <a:rPr lang="en-NZ" sz="1200" kern="1200" dirty="0" err="1">
                <a:solidFill>
                  <a:schemeClr val="tx1"/>
                </a:solidFill>
                <a:effectLst/>
                <a:latin typeface="+mn-lt"/>
                <a:ea typeface="+mn-ea"/>
                <a:cs typeface="+mn-cs"/>
              </a:rPr>
              <a:t>DeploymentConfig</a:t>
            </a:r>
            <a:endParaRPr lang="en-NZ" sz="1200" kern="1200" dirty="0">
              <a:solidFill>
                <a:schemeClr val="tx1"/>
              </a:solidFill>
              <a:effectLst/>
              <a:latin typeface="+mn-lt"/>
              <a:ea typeface="+mn-ea"/>
              <a:cs typeface="+mn-cs"/>
            </a:endParaRPr>
          </a:p>
          <a:p>
            <a:pPr lvl="1"/>
            <a:r>
              <a:rPr lang="en-NZ" sz="1200" kern="1200" dirty="0">
                <a:solidFill>
                  <a:schemeClr val="tx1"/>
                </a:solidFill>
                <a:effectLst/>
                <a:latin typeface="+mn-lt"/>
                <a:ea typeface="+mn-ea"/>
                <a:cs typeface="+mn-cs"/>
              </a:rPr>
              <a:t>Updates Service</a:t>
            </a:r>
          </a:p>
          <a:p>
            <a:pPr lvl="1"/>
            <a:r>
              <a:rPr lang="en-NZ" sz="1200" kern="1200" dirty="0">
                <a:solidFill>
                  <a:schemeClr val="tx1"/>
                </a:solidFill>
                <a:effectLst/>
                <a:latin typeface="+mn-lt"/>
                <a:ea typeface="+mn-ea"/>
                <a:cs typeface="+mn-cs"/>
              </a:rPr>
              <a:t>Updates Route</a:t>
            </a:r>
          </a:p>
          <a:p>
            <a:pPr lvl="1"/>
            <a:r>
              <a:rPr lang="en-NZ" sz="1200" kern="1200" dirty="0">
                <a:solidFill>
                  <a:schemeClr val="tx1"/>
                </a:solidFill>
                <a:effectLst/>
                <a:latin typeface="+mn-lt"/>
                <a:ea typeface="+mn-ea"/>
                <a:cs typeface="+mn-cs"/>
              </a:rPr>
              <a:t>Creates </a:t>
            </a:r>
            <a:r>
              <a:rPr lang="en-NZ" sz="1200" kern="1200" dirty="0" err="1">
                <a:solidFill>
                  <a:schemeClr val="tx1"/>
                </a:solidFill>
                <a:effectLst/>
                <a:latin typeface="+mn-lt"/>
                <a:ea typeface="+mn-ea"/>
                <a:cs typeface="+mn-cs"/>
              </a:rPr>
              <a:t>Imagestreams</a:t>
            </a:r>
            <a:endParaRPr lang="en-NZ" sz="1200" kern="1200" dirty="0">
              <a:solidFill>
                <a:schemeClr val="tx1"/>
              </a:solidFill>
              <a:effectLst/>
              <a:latin typeface="+mn-lt"/>
              <a:ea typeface="+mn-ea"/>
              <a:cs typeface="+mn-cs"/>
            </a:endParaRPr>
          </a:p>
          <a:p>
            <a:pPr lvl="1"/>
            <a:r>
              <a:rPr lang="en-NZ" sz="1200" kern="1200" dirty="0">
                <a:solidFill>
                  <a:schemeClr val="tx1"/>
                </a:solidFill>
                <a:effectLst/>
                <a:latin typeface="+mn-lt"/>
                <a:ea typeface="+mn-ea"/>
                <a:cs typeface="+mn-cs"/>
              </a:rPr>
              <a:t>Updates Secrets</a:t>
            </a:r>
          </a:p>
          <a:p>
            <a:pPr lvl="1"/>
            <a:r>
              <a:rPr lang="en-NZ" sz="1200" kern="1200" dirty="0">
                <a:solidFill>
                  <a:schemeClr val="tx1"/>
                </a:solidFill>
                <a:effectLst/>
                <a:latin typeface="+mn-lt"/>
                <a:ea typeface="+mn-ea"/>
                <a:cs typeface="+mn-cs"/>
              </a:rPr>
              <a:t>Updates </a:t>
            </a:r>
            <a:r>
              <a:rPr lang="en-NZ" sz="1200" kern="1200" dirty="0" err="1">
                <a:solidFill>
                  <a:schemeClr val="tx1"/>
                </a:solidFill>
                <a:effectLst/>
                <a:latin typeface="+mn-lt"/>
                <a:ea typeface="+mn-ea"/>
                <a:cs typeface="+mn-cs"/>
              </a:rPr>
              <a:t>Configmaps</a:t>
            </a:r>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This is especially handy for a developer who needs to update a configuration property for their project. All they need to do is ensure that source control is updated with the new values and automation takes care of the rest.</a:t>
            </a:r>
          </a:p>
          <a:p>
            <a:endParaRPr lang="en-NZ" sz="1200" kern="1200" dirty="0">
              <a:solidFill>
                <a:schemeClr val="tx1"/>
              </a:solidFill>
              <a:effectLst/>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fld id="{00B0D373-72FC-40E4-AA75-C91E2A7BDB44}" type="slidenum">
              <a:rPr lang="en-NZ" smtClean="0"/>
              <a:t>7</a:t>
            </a:fld>
            <a:endParaRPr lang="en-NZ"/>
          </a:p>
        </p:txBody>
      </p:sp>
    </p:spTree>
    <p:extLst>
      <p:ext uri="{BB962C8B-B14F-4D97-AF65-F5344CB8AC3E}">
        <p14:creationId xmlns:p14="http://schemas.microsoft.com/office/powerpoint/2010/main" val="22500935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Z" sz="1200" kern="1200" dirty="0">
                <a:solidFill>
                  <a:schemeClr val="tx1"/>
                </a:solidFill>
                <a:effectLst/>
                <a:latin typeface="+mn-lt"/>
                <a:ea typeface="+mn-ea"/>
                <a:cs typeface="+mn-cs"/>
              </a:rPr>
              <a:t>We are monitoring the standard endpoints and processes based on </a:t>
            </a:r>
            <a:r>
              <a:rPr lang="en-NZ" sz="1200" u="sng" kern="1200" dirty="0">
                <a:solidFill>
                  <a:schemeClr val="tx1"/>
                </a:solidFill>
                <a:effectLst/>
                <a:latin typeface="+mn-lt"/>
                <a:ea typeface="+mn-ea"/>
                <a:cs typeface="+mn-cs"/>
                <a:hlinkClick r:id="rId3"/>
              </a:rPr>
              <a:t>https://github.com/redhat-cop/openshift-playbooks/blob/master/playbooks/operationalizing/monitoring_guide.adoc</a:t>
            </a:r>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We have built some custom monitoring scripts to help monitor and alert on capacity and performance issues. </a:t>
            </a:r>
          </a:p>
          <a:p>
            <a:r>
              <a:rPr lang="en-NZ" sz="1200" kern="1200" dirty="0">
                <a:solidFill>
                  <a:schemeClr val="tx1"/>
                </a:solidFill>
                <a:effectLst/>
                <a:latin typeface="+mn-lt"/>
                <a:ea typeface="+mn-ea"/>
                <a:cs typeface="+mn-cs"/>
              </a:rPr>
              <a:t> </a:t>
            </a:r>
          </a:p>
          <a:p>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a:t>
            </a:r>
            <a:r>
              <a:rPr lang="en-NZ" sz="1200" kern="1200" dirty="0" err="1">
                <a:solidFill>
                  <a:schemeClr val="tx1"/>
                </a:solidFill>
                <a:effectLst/>
                <a:latin typeface="+mn-lt"/>
                <a:ea typeface="+mn-ea"/>
                <a:cs typeface="+mn-cs"/>
              </a:rPr>
              <a:t>registery</a:t>
            </a:r>
            <a:r>
              <a:rPr lang="en-NZ" sz="1200" kern="1200" dirty="0">
                <a:solidFill>
                  <a:schemeClr val="tx1"/>
                </a:solidFill>
                <a:effectLst/>
                <a:latin typeface="+mn-lt"/>
                <a:ea typeface="+mn-ea"/>
                <a:cs typeface="+mn-cs"/>
              </a:rPr>
              <a:t>-monitor which does a pull and push to the </a:t>
            </a:r>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 registry every 5 minutes .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persistent-volume-monitor which checks how many persistent volumes we have left that can be used</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build-max-pod-monitor this monitors our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builder nodes to make sure we are not hitting the max pods for the builder nodes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app-max-pod-monitor this will make sure we are not hitting max pods for our compute nodes </a:t>
            </a:r>
          </a:p>
          <a:p>
            <a:endParaRPr lang="en-NZ" sz="1200" kern="1200" dirty="0">
              <a:solidFill>
                <a:schemeClr val="tx1"/>
              </a:solidFill>
              <a:effectLst/>
              <a:latin typeface="+mn-lt"/>
              <a:ea typeface="+mn-ea"/>
              <a:cs typeface="+mn-cs"/>
            </a:endParaRPr>
          </a:p>
          <a:p>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-pool-monitor to monitor the </a:t>
            </a:r>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 pool's on the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nodes, to ensure we are not going to run out of disk for the </a:t>
            </a:r>
            <a:r>
              <a:rPr lang="en-NZ" sz="1200" kern="1200" dirty="0" err="1">
                <a:solidFill>
                  <a:schemeClr val="tx1"/>
                </a:solidFill>
                <a:effectLst/>
                <a:latin typeface="+mn-lt"/>
                <a:ea typeface="+mn-ea"/>
                <a:cs typeface="+mn-cs"/>
              </a:rPr>
              <a:t>docker</a:t>
            </a:r>
            <a:r>
              <a:rPr lang="en-NZ" sz="1200" kern="1200" dirty="0">
                <a:solidFill>
                  <a:schemeClr val="tx1"/>
                </a:solidFill>
                <a:effectLst/>
                <a:latin typeface="+mn-lt"/>
                <a:ea typeface="+mn-ea"/>
                <a:cs typeface="+mn-cs"/>
              </a:rPr>
              <a:t> thin pools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cert monitor, we have a script that runs once every day to check that none of the certs are due to expire in the next month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We have standard OS monitoring on all the nodes (and masters) CPU, mem swap etc.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security </a:t>
            </a:r>
          </a:p>
          <a:p>
            <a:r>
              <a:rPr lang="en-NZ" sz="1200" kern="1200" dirty="0">
                <a:solidFill>
                  <a:schemeClr val="tx1"/>
                </a:solidFill>
                <a:effectLst/>
                <a:latin typeface="+mn-lt"/>
                <a:ea typeface="+mn-ea"/>
                <a:cs typeface="+mn-cs"/>
              </a:rPr>
              <a:t>We use </a:t>
            </a:r>
            <a:r>
              <a:rPr lang="en-NZ" sz="1200" kern="1200" dirty="0" err="1">
                <a:solidFill>
                  <a:schemeClr val="tx1"/>
                </a:solidFill>
                <a:effectLst/>
                <a:latin typeface="+mn-lt"/>
                <a:ea typeface="+mn-ea"/>
                <a:cs typeface="+mn-cs"/>
              </a:rPr>
              <a:t>cloudforms</a:t>
            </a:r>
            <a:r>
              <a:rPr lang="en-NZ" sz="1200" kern="1200" dirty="0">
                <a:solidFill>
                  <a:schemeClr val="tx1"/>
                </a:solidFill>
                <a:effectLst/>
                <a:latin typeface="+mn-lt"/>
                <a:ea typeface="+mn-ea"/>
                <a:cs typeface="+mn-cs"/>
              </a:rPr>
              <a:t> which scans all of the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servers using </a:t>
            </a:r>
            <a:r>
              <a:rPr lang="en-NZ" sz="1200" kern="1200" dirty="0" err="1">
                <a:solidFill>
                  <a:schemeClr val="tx1"/>
                </a:solidFill>
                <a:effectLst/>
                <a:latin typeface="+mn-lt"/>
                <a:ea typeface="+mn-ea"/>
                <a:cs typeface="+mn-cs"/>
              </a:rPr>
              <a:t>openscap</a:t>
            </a:r>
            <a:r>
              <a:rPr lang="en-NZ" sz="1200" kern="1200" dirty="0">
                <a:solidFill>
                  <a:schemeClr val="tx1"/>
                </a:solidFill>
                <a:effectLst/>
                <a:latin typeface="+mn-lt"/>
                <a:ea typeface="+mn-ea"/>
                <a:cs typeface="+mn-cs"/>
              </a:rPr>
              <a:t> and reporting on which container images have high severity security CVE's. I think we need to do more in this space (</a:t>
            </a:r>
            <a:r>
              <a:rPr lang="en-NZ" sz="1200" kern="1200" dirty="0" err="1">
                <a:solidFill>
                  <a:schemeClr val="tx1"/>
                </a:solidFill>
                <a:effectLst/>
                <a:latin typeface="+mn-lt"/>
                <a:ea typeface="+mn-ea"/>
                <a:cs typeface="+mn-cs"/>
              </a:rPr>
              <a:t>intergrating</a:t>
            </a:r>
            <a:r>
              <a:rPr lang="en-NZ" sz="1200" kern="1200" dirty="0">
                <a:solidFill>
                  <a:schemeClr val="tx1"/>
                </a:solidFill>
                <a:effectLst/>
                <a:latin typeface="+mn-lt"/>
                <a:ea typeface="+mn-ea"/>
                <a:cs typeface="+mn-cs"/>
              </a:rPr>
              <a:t> some scanning into the pipelines)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logging </a:t>
            </a:r>
          </a:p>
          <a:p>
            <a:r>
              <a:rPr lang="en-NZ" sz="1200" kern="1200" dirty="0">
                <a:solidFill>
                  <a:schemeClr val="tx1"/>
                </a:solidFill>
                <a:effectLst/>
                <a:latin typeface="+mn-lt"/>
                <a:ea typeface="+mn-ea"/>
                <a:cs typeface="+mn-cs"/>
              </a:rPr>
              <a:t>Currently using elastic search, </a:t>
            </a:r>
            <a:r>
              <a:rPr lang="en-NZ" sz="1200" kern="1200" dirty="0" err="1">
                <a:solidFill>
                  <a:schemeClr val="tx1"/>
                </a:solidFill>
                <a:effectLst/>
                <a:latin typeface="+mn-lt"/>
                <a:ea typeface="+mn-ea"/>
                <a:cs typeface="+mn-cs"/>
              </a:rPr>
              <a:t>fluentd</a:t>
            </a:r>
            <a:r>
              <a:rPr lang="en-NZ" sz="1200" kern="1200" dirty="0">
                <a:solidFill>
                  <a:schemeClr val="tx1"/>
                </a:solidFill>
                <a:effectLst/>
                <a:latin typeface="+mn-lt"/>
                <a:ea typeface="+mn-ea"/>
                <a:cs typeface="+mn-cs"/>
              </a:rPr>
              <a:t> and </a:t>
            </a:r>
            <a:r>
              <a:rPr lang="en-NZ" sz="1200" kern="1200" dirty="0" err="1">
                <a:solidFill>
                  <a:schemeClr val="tx1"/>
                </a:solidFill>
                <a:effectLst/>
                <a:latin typeface="+mn-lt"/>
                <a:ea typeface="+mn-ea"/>
                <a:cs typeface="+mn-cs"/>
              </a:rPr>
              <a:t>kibana</a:t>
            </a:r>
            <a:r>
              <a:rPr lang="en-NZ" sz="1200" kern="1200" dirty="0">
                <a:solidFill>
                  <a:schemeClr val="tx1"/>
                </a:solidFill>
                <a:effectLst/>
                <a:latin typeface="+mn-lt"/>
                <a:ea typeface="+mn-ea"/>
                <a:cs typeface="+mn-cs"/>
              </a:rPr>
              <a:t> (EFK), but we are working on migrating this to </a:t>
            </a:r>
            <a:r>
              <a:rPr lang="en-NZ" sz="1200" kern="1200" dirty="0" err="1">
                <a:solidFill>
                  <a:schemeClr val="tx1"/>
                </a:solidFill>
                <a:effectLst/>
                <a:latin typeface="+mn-lt"/>
                <a:ea typeface="+mn-ea"/>
                <a:cs typeface="+mn-cs"/>
              </a:rPr>
              <a:t>splunk</a:t>
            </a:r>
            <a:r>
              <a:rPr lang="en-NZ" sz="1200" kern="1200" dirty="0">
                <a:solidFill>
                  <a:schemeClr val="tx1"/>
                </a:solidFill>
                <a:effectLst/>
                <a:latin typeface="+mn-lt"/>
                <a:ea typeface="+mn-ea"/>
                <a:cs typeface="+mn-cs"/>
              </a:rPr>
              <a:t>. We have found ELK to be not as reliable. </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pipeline </a:t>
            </a:r>
          </a:p>
          <a:p>
            <a:r>
              <a:rPr lang="en-NZ" sz="1200" kern="1200" dirty="0">
                <a:solidFill>
                  <a:schemeClr val="tx1"/>
                </a:solidFill>
                <a:effectLst/>
                <a:latin typeface="+mn-lt"/>
                <a:ea typeface="+mn-ea"/>
                <a:cs typeface="+mn-cs"/>
              </a:rPr>
              <a:t>The pipelines are expanding, there are new pipelines being built every day, and having a well-documented pattern is crucial. We are using Jenkins with the </a:t>
            </a:r>
            <a:r>
              <a:rPr lang="en-NZ" sz="1200" kern="1200" dirty="0" err="1">
                <a:solidFill>
                  <a:schemeClr val="tx1"/>
                </a:solidFill>
                <a:effectLst/>
                <a:latin typeface="+mn-lt"/>
                <a:ea typeface="+mn-ea"/>
                <a:cs typeface="+mn-cs"/>
              </a:rPr>
              <a:t>openshift</a:t>
            </a:r>
            <a:r>
              <a:rPr lang="en-NZ" sz="1200" kern="1200" dirty="0">
                <a:solidFill>
                  <a:schemeClr val="tx1"/>
                </a:solidFill>
                <a:effectLst/>
                <a:latin typeface="+mn-lt"/>
                <a:ea typeface="+mn-ea"/>
                <a:cs typeface="+mn-cs"/>
              </a:rPr>
              <a:t> plugin, and using a </a:t>
            </a:r>
            <a:r>
              <a:rPr lang="en-NZ" sz="1200" kern="1200" dirty="0" err="1">
                <a:solidFill>
                  <a:schemeClr val="tx1"/>
                </a:solidFill>
                <a:effectLst/>
                <a:latin typeface="+mn-lt"/>
                <a:ea typeface="+mn-ea"/>
                <a:cs typeface="+mn-cs"/>
              </a:rPr>
              <a:t>jenkinsfile</a:t>
            </a:r>
            <a:r>
              <a:rPr lang="en-NZ" sz="1200" kern="1200" dirty="0">
                <a:solidFill>
                  <a:schemeClr val="tx1"/>
                </a:solidFill>
                <a:effectLst/>
                <a:latin typeface="+mn-lt"/>
                <a:ea typeface="+mn-ea"/>
                <a:cs typeface="+mn-cs"/>
              </a:rPr>
              <a:t>. This allows us to use ephemeral </a:t>
            </a:r>
            <a:r>
              <a:rPr lang="en-NZ" sz="1200" kern="1200" dirty="0" err="1">
                <a:solidFill>
                  <a:schemeClr val="tx1"/>
                </a:solidFill>
                <a:effectLst/>
                <a:latin typeface="+mn-lt"/>
                <a:ea typeface="+mn-ea"/>
                <a:cs typeface="+mn-cs"/>
              </a:rPr>
              <a:t>jenkins</a:t>
            </a:r>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When the pipelines are working well, things are great. However our current pattern seems to be quite fiddley and complicated where it's getting rather difficult to support. </a:t>
            </a:r>
          </a:p>
          <a:p>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Playbooks</a:t>
            </a:r>
          </a:p>
          <a:p>
            <a:r>
              <a:rPr lang="en-NZ" sz="1200" kern="1200" dirty="0">
                <a:solidFill>
                  <a:schemeClr val="tx1"/>
                </a:solidFill>
                <a:effectLst/>
                <a:latin typeface="+mn-lt"/>
                <a:ea typeface="+mn-ea"/>
                <a:cs typeface="+mn-cs"/>
              </a:rPr>
              <a:t>OpenShift playbooks do:</a:t>
            </a:r>
          </a:p>
          <a:p>
            <a:r>
              <a:rPr lang="en-NZ" sz="1200" kern="1200" dirty="0">
                <a:solidFill>
                  <a:schemeClr val="tx1"/>
                </a:solidFill>
                <a:effectLst/>
                <a:latin typeface="+mn-lt"/>
                <a:ea typeface="+mn-ea"/>
                <a:cs typeface="+mn-cs"/>
              </a:rPr>
              <a:t> </a:t>
            </a:r>
          </a:p>
          <a:p>
            <a:r>
              <a:rPr lang="en-NZ" sz="1200" kern="1200" dirty="0">
                <a:solidFill>
                  <a:schemeClr val="tx1"/>
                </a:solidFill>
                <a:effectLst/>
                <a:latin typeface="+mn-lt"/>
                <a:ea typeface="+mn-ea"/>
                <a:cs typeface="+mn-cs"/>
              </a:rPr>
              <a:t>In a nutshell</a:t>
            </a:r>
          </a:p>
          <a:p>
            <a:pPr lvl="0"/>
            <a:r>
              <a:rPr lang="en-NZ" sz="1200" kern="1200" dirty="0">
                <a:solidFill>
                  <a:schemeClr val="tx1"/>
                </a:solidFill>
                <a:effectLst/>
                <a:latin typeface="+mn-lt"/>
                <a:ea typeface="+mn-ea"/>
                <a:cs typeface="+mn-cs"/>
              </a:rPr>
              <a:t>Ensures OpenShift projects are kept consistent with the source of truth (Git). This reduces the amount of human intervention and therefore human error at deployment time.</a:t>
            </a:r>
          </a:p>
          <a:p>
            <a:r>
              <a:rPr lang="en-NZ" sz="1200" kern="1200" dirty="0">
                <a:solidFill>
                  <a:schemeClr val="tx1"/>
                </a:solidFill>
                <a:effectLst/>
                <a:latin typeface="+mn-lt"/>
                <a:ea typeface="+mn-ea"/>
                <a:cs typeface="+mn-cs"/>
              </a:rPr>
              <a:t>In detail</a:t>
            </a:r>
          </a:p>
          <a:p>
            <a:pPr lvl="0"/>
            <a:r>
              <a:rPr lang="en-NZ" sz="1200" kern="1200" dirty="0">
                <a:solidFill>
                  <a:schemeClr val="tx1"/>
                </a:solidFill>
                <a:effectLst/>
                <a:latin typeface="+mn-lt"/>
                <a:ea typeface="+mn-ea"/>
                <a:cs typeface="+mn-cs"/>
              </a:rPr>
              <a:t>Executed before deploying to a given environment</a:t>
            </a:r>
          </a:p>
          <a:p>
            <a:pPr lvl="0"/>
            <a:r>
              <a:rPr lang="en-NZ" sz="1200" kern="1200" dirty="0">
                <a:solidFill>
                  <a:schemeClr val="tx1"/>
                </a:solidFill>
                <a:effectLst/>
                <a:latin typeface="+mn-lt"/>
                <a:ea typeface="+mn-ea"/>
                <a:cs typeface="+mn-cs"/>
              </a:rPr>
              <a:t>Downloads the latest configuration from Git and:</a:t>
            </a:r>
          </a:p>
          <a:p>
            <a:pPr lvl="1"/>
            <a:r>
              <a:rPr lang="en-NZ" sz="1200" kern="1200" dirty="0">
                <a:solidFill>
                  <a:schemeClr val="tx1"/>
                </a:solidFill>
                <a:effectLst/>
                <a:latin typeface="+mn-lt"/>
                <a:ea typeface="+mn-ea"/>
                <a:cs typeface="+mn-cs"/>
              </a:rPr>
              <a:t>Updates </a:t>
            </a:r>
            <a:r>
              <a:rPr lang="en-NZ" sz="1200" kern="1200" dirty="0" err="1">
                <a:solidFill>
                  <a:schemeClr val="tx1"/>
                </a:solidFill>
                <a:effectLst/>
                <a:latin typeface="+mn-lt"/>
                <a:ea typeface="+mn-ea"/>
                <a:cs typeface="+mn-cs"/>
              </a:rPr>
              <a:t>BuildConfig</a:t>
            </a:r>
            <a:endParaRPr lang="en-NZ" sz="1200" kern="1200" dirty="0">
              <a:solidFill>
                <a:schemeClr val="tx1"/>
              </a:solidFill>
              <a:effectLst/>
              <a:latin typeface="+mn-lt"/>
              <a:ea typeface="+mn-ea"/>
              <a:cs typeface="+mn-cs"/>
            </a:endParaRPr>
          </a:p>
          <a:p>
            <a:pPr lvl="1"/>
            <a:r>
              <a:rPr lang="en-NZ" sz="1200" kern="1200" dirty="0">
                <a:solidFill>
                  <a:schemeClr val="tx1"/>
                </a:solidFill>
                <a:effectLst/>
                <a:latin typeface="+mn-lt"/>
                <a:ea typeface="+mn-ea"/>
                <a:cs typeface="+mn-cs"/>
              </a:rPr>
              <a:t>Updates </a:t>
            </a:r>
            <a:r>
              <a:rPr lang="en-NZ" sz="1200" kern="1200" dirty="0" err="1">
                <a:solidFill>
                  <a:schemeClr val="tx1"/>
                </a:solidFill>
                <a:effectLst/>
                <a:latin typeface="+mn-lt"/>
                <a:ea typeface="+mn-ea"/>
                <a:cs typeface="+mn-cs"/>
              </a:rPr>
              <a:t>DeploymentConfig</a:t>
            </a:r>
            <a:endParaRPr lang="en-NZ" sz="1200" kern="1200" dirty="0">
              <a:solidFill>
                <a:schemeClr val="tx1"/>
              </a:solidFill>
              <a:effectLst/>
              <a:latin typeface="+mn-lt"/>
              <a:ea typeface="+mn-ea"/>
              <a:cs typeface="+mn-cs"/>
            </a:endParaRPr>
          </a:p>
          <a:p>
            <a:pPr lvl="1"/>
            <a:r>
              <a:rPr lang="en-NZ" sz="1200" kern="1200" dirty="0">
                <a:solidFill>
                  <a:schemeClr val="tx1"/>
                </a:solidFill>
                <a:effectLst/>
                <a:latin typeface="+mn-lt"/>
                <a:ea typeface="+mn-ea"/>
                <a:cs typeface="+mn-cs"/>
              </a:rPr>
              <a:t>Updates Service</a:t>
            </a:r>
          </a:p>
          <a:p>
            <a:pPr lvl="1"/>
            <a:r>
              <a:rPr lang="en-NZ" sz="1200" kern="1200" dirty="0">
                <a:solidFill>
                  <a:schemeClr val="tx1"/>
                </a:solidFill>
                <a:effectLst/>
                <a:latin typeface="+mn-lt"/>
                <a:ea typeface="+mn-ea"/>
                <a:cs typeface="+mn-cs"/>
              </a:rPr>
              <a:t>Updates Route</a:t>
            </a:r>
          </a:p>
          <a:p>
            <a:pPr lvl="1"/>
            <a:r>
              <a:rPr lang="en-NZ" sz="1200" kern="1200" dirty="0">
                <a:solidFill>
                  <a:schemeClr val="tx1"/>
                </a:solidFill>
                <a:effectLst/>
                <a:latin typeface="+mn-lt"/>
                <a:ea typeface="+mn-ea"/>
                <a:cs typeface="+mn-cs"/>
              </a:rPr>
              <a:t>Creates </a:t>
            </a:r>
            <a:r>
              <a:rPr lang="en-NZ" sz="1200" kern="1200" dirty="0" err="1">
                <a:solidFill>
                  <a:schemeClr val="tx1"/>
                </a:solidFill>
                <a:effectLst/>
                <a:latin typeface="+mn-lt"/>
                <a:ea typeface="+mn-ea"/>
                <a:cs typeface="+mn-cs"/>
              </a:rPr>
              <a:t>Imagestreams</a:t>
            </a:r>
            <a:endParaRPr lang="en-NZ" sz="1200" kern="1200" dirty="0">
              <a:solidFill>
                <a:schemeClr val="tx1"/>
              </a:solidFill>
              <a:effectLst/>
              <a:latin typeface="+mn-lt"/>
              <a:ea typeface="+mn-ea"/>
              <a:cs typeface="+mn-cs"/>
            </a:endParaRPr>
          </a:p>
          <a:p>
            <a:pPr lvl="1"/>
            <a:r>
              <a:rPr lang="en-NZ" sz="1200" kern="1200" dirty="0">
                <a:solidFill>
                  <a:schemeClr val="tx1"/>
                </a:solidFill>
                <a:effectLst/>
                <a:latin typeface="+mn-lt"/>
                <a:ea typeface="+mn-ea"/>
                <a:cs typeface="+mn-cs"/>
              </a:rPr>
              <a:t>Updates Secrets</a:t>
            </a:r>
          </a:p>
          <a:p>
            <a:pPr lvl="1"/>
            <a:r>
              <a:rPr lang="en-NZ" sz="1200" kern="1200" dirty="0">
                <a:solidFill>
                  <a:schemeClr val="tx1"/>
                </a:solidFill>
                <a:effectLst/>
                <a:latin typeface="+mn-lt"/>
                <a:ea typeface="+mn-ea"/>
                <a:cs typeface="+mn-cs"/>
              </a:rPr>
              <a:t>Updates </a:t>
            </a:r>
            <a:r>
              <a:rPr lang="en-NZ" sz="1200" kern="1200" dirty="0" err="1">
                <a:solidFill>
                  <a:schemeClr val="tx1"/>
                </a:solidFill>
                <a:effectLst/>
                <a:latin typeface="+mn-lt"/>
                <a:ea typeface="+mn-ea"/>
                <a:cs typeface="+mn-cs"/>
              </a:rPr>
              <a:t>Configmaps</a:t>
            </a:r>
            <a:endParaRPr lang="en-NZ" sz="1200" kern="1200" dirty="0">
              <a:solidFill>
                <a:schemeClr val="tx1"/>
              </a:solidFill>
              <a:effectLst/>
              <a:latin typeface="+mn-lt"/>
              <a:ea typeface="+mn-ea"/>
              <a:cs typeface="+mn-cs"/>
            </a:endParaRPr>
          </a:p>
          <a:p>
            <a:r>
              <a:rPr lang="en-NZ" sz="1200" kern="1200" dirty="0">
                <a:solidFill>
                  <a:schemeClr val="tx1"/>
                </a:solidFill>
                <a:effectLst/>
                <a:latin typeface="+mn-lt"/>
                <a:ea typeface="+mn-ea"/>
                <a:cs typeface="+mn-cs"/>
              </a:rPr>
              <a:t>This is especially handy for a developer who needs to update a configuration property for their project. All they need to do is ensure that source control is updated with the new values and automation takes care of the rest.</a:t>
            </a:r>
          </a:p>
          <a:p>
            <a:endParaRPr lang="en-NZ" sz="1200" kern="1200" dirty="0">
              <a:solidFill>
                <a:schemeClr val="tx1"/>
              </a:solidFill>
              <a:effectLst/>
              <a:latin typeface="+mn-lt"/>
              <a:ea typeface="+mn-ea"/>
              <a:cs typeface="+mn-cs"/>
            </a:endParaRPr>
          </a:p>
          <a:p>
            <a:endParaRPr lang="en-NZ" dirty="0"/>
          </a:p>
        </p:txBody>
      </p:sp>
      <p:sp>
        <p:nvSpPr>
          <p:cNvPr id="4" name="Slide Number Placeholder 3"/>
          <p:cNvSpPr>
            <a:spLocks noGrp="1"/>
          </p:cNvSpPr>
          <p:nvPr>
            <p:ph type="sldNum" sz="quarter" idx="10"/>
          </p:nvPr>
        </p:nvSpPr>
        <p:spPr/>
        <p:txBody>
          <a:bodyPr/>
          <a:lstStyle/>
          <a:p>
            <a:fld id="{00B0D373-72FC-40E4-AA75-C91E2A7BDB44}" type="slidenum">
              <a:rPr lang="en-NZ" smtClean="0"/>
              <a:t>8</a:t>
            </a:fld>
            <a:endParaRPr lang="en-NZ"/>
          </a:p>
        </p:txBody>
      </p:sp>
    </p:spTree>
    <p:extLst>
      <p:ext uri="{BB962C8B-B14F-4D97-AF65-F5344CB8AC3E}">
        <p14:creationId xmlns:p14="http://schemas.microsoft.com/office/powerpoint/2010/main" val="11521965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Z" dirty="0"/>
          </a:p>
        </p:txBody>
      </p:sp>
      <p:sp>
        <p:nvSpPr>
          <p:cNvPr id="4" name="Slide Number Placeholder 3"/>
          <p:cNvSpPr>
            <a:spLocks noGrp="1"/>
          </p:cNvSpPr>
          <p:nvPr>
            <p:ph type="sldNum" sz="quarter" idx="10"/>
          </p:nvPr>
        </p:nvSpPr>
        <p:spPr/>
        <p:txBody>
          <a:bodyPr/>
          <a:lstStyle/>
          <a:p>
            <a:fld id="{00B0D373-72FC-40E4-AA75-C91E2A7BDB44}" type="slidenum">
              <a:rPr lang="en-NZ" smtClean="0"/>
              <a:t>9</a:t>
            </a:fld>
            <a:endParaRPr lang="en-NZ"/>
          </a:p>
        </p:txBody>
      </p:sp>
    </p:spTree>
    <p:extLst>
      <p:ext uri="{BB962C8B-B14F-4D97-AF65-F5344CB8AC3E}">
        <p14:creationId xmlns:p14="http://schemas.microsoft.com/office/powerpoint/2010/main" val="1796690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p:cNvSpPr>
            <a:spLocks noGrp="1"/>
          </p:cNvSpPr>
          <p:nvPr>
            <p:ph type="dt" sz="half" idx="10"/>
          </p:nvPr>
        </p:nvSpPr>
        <p:spPr/>
        <p:txBody>
          <a:bodyPr/>
          <a:lstStyle/>
          <a:p>
            <a:fld id="{4C42B892-4454-4017-B32E-8B193DFD21C5}" type="datetimeFigureOut">
              <a:rPr lang="en-NZ" smtClean="0"/>
              <a:t>28/06/2018</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1617009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p:txBody>
          <a:bodyPr/>
          <a:lstStyle/>
          <a:p>
            <a:fld id="{4C42B892-4454-4017-B32E-8B193DFD21C5}" type="datetimeFigureOut">
              <a:rPr lang="en-NZ" smtClean="0"/>
              <a:t>28/06/2018</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1640779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C42B892-4454-4017-B32E-8B193DFD21C5}" type="datetimeFigureOut">
              <a:rPr lang="en-NZ" smtClean="0"/>
              <a:t>28/06/2018</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11032804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p:cNvSpPr>
            <a:spLocks noGrp="1"/>
          </p:cNvSpPr>
          <p:nvPr>
            <p:ph type="dt" sz="half" idx="10"/>
          </p:nvPr>
        </p:nvSpPr>
        <p:spPr/>
        <p:txBody>
          <a:bodyPr/>
          <a:lstStyle/>
          <a:p>
            <a:fld id="{4C42B892-4454-4017-B32E-8B193DFD21C5}" type="datetimeFigureOut">
              <a:rPr lang="en-NZ" smtClean="0"/>
              <a:t>28/06/2018</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402235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p:cNvSpPr>
            <a:spLocks noGrp="1"/>
          </p:cNvSpPr>
          <p:nvPr>
            <p:ph type="dt" sz="half" idx="10"/>
          </p:nvPr>
        </p:nvSpPr>
        <p:spPr/>
        <p:txBody>
          <a:bodyPr/>
          <a:lstStyle/>
          <a:p>
            <a:fld id="{4C42B892-4454-4017-B32E-8B193DFD21C5}" type="datetimeFigureOut">
              <a:rPr lang="en-NZ" smtClean="0"/>
              <a:t>28/06/2018</a:t>
            </a:fld>
            <a:endParaRPr lang="en-NZ"/>
          </a:p>
        </p:txBody>
      </p:sp>
      <p:sp>
        <p:nvSpPr>
          <p:cNvPr id="8" name="Footer Placeholder 7"/>
          <p:cNvSpPr>
            <a:spLocks noGrp="1"/>
          </p:cNvSpPr>
          <p:nvPr>
            <p:ph type="ftr" sz="quarter" idx="11"/>
          </p:nvPr>
        </p:nvSpPr>
        <p:spPr/>
        <p:txBody>
          <a:bodyPr/>
          <a:lstStyle/>
          <a:p>
            <a:endParaRPr lang="en-NZ"/>
          </a:p>
        </p:txBody>
      </p:sp>
      <p:sp>
        <p:nvSpPr>
          <p:cNvPr id="9" name="Slide Number Placeholder 8"/>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91463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Date Placeholder 2"/>
          <p:cNvSpPr>
            <a:spLocks noGrp="1"/>
          </p:cNvSpPr>
          <p:nvPr>
            <p:ph type="dt" sz="half" idx="10"/>
          </p:nvPr>
        </p:nvSpPr>
        <p:spPr/>
        <p:txBody>
          <a:bodyPr/>
          <a:lstStyle/>
          <a:p>
            <a:fld id="{4C42B892-4454-4017-B32E-8B193DFD21C5}" type="datetimeFigureOut">
              <a:rPr lang="en-NZ" smtClean="0"/>
              <a:t>28/06/2018</a:t>
            </a:fld>
            <a:endParaRPr lang="en-NZ"/>
          </a:p>
        </p:txBody>
      </p:sp>
      <p:sp>
        <p:nvSpPr>
          <p:cNvPr id="4" name="Footer Placeholder 3"/>
          <p:cNvSpPr>
            <a:spLocks noGrp="1"/>
          </p:cNvSpPr>
          <p:nvPr>
            <p:ph type="ftr" sz="quarter" idx="11"/>
          </p:nvPr>
        </p:nvSpPr>
        <p:spPr/>
        <p:txBody>
          <a:bodyPr/>
          <a:lstStyle/>
          <a:p>
            <a:endParaRPr lang="en-NZ"/>
          </a:p>
        </p:txBody>
      </p:sp>
      <p:sp>
        <p:nvSpPr>
          <p:cNvPr id="5" name="Slide Number Placeholder 4"/>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2184755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C42B892-4454-4017-B32E-8B193DFD21C5}" type="datetimeFigureOut">
              <a:rPr lang="en-NZ" smtClean="0"/>
              <a:t>28/06/2018</a:t>
            </a:fld>
            <a:endParaRPr lang="en-NZ"/>
          </a:p>
        </p:txBody>
      </p:sp>
      <p:sp>
        <p:nvSpPr>
          <p:cNvPr id="3" name="Footer Placeholder 2"/>
          <p:cNvSpPr>
            <a:spLocks noGrp="1"/>
          </p:cNvSpPr>
          <p:nvPr>
            <p:ph type="ftr" sz="quarter" idx="11"/>
          </p:nvPr>
        </p:nvSpPr>
        <p:spPr/>
        <p:txBody>
          <a:bodyPr/>
          <a:lstStyle/>
          <a:p>
            <a:endParaRPr lang="en-NZ"/>
          </a:p>
        </p:txBody>
      </p:sp>
      <p:sp>
        <p:nvSpPr>
          <p:cNvPr id="4" name="Slide Number Placeholder 3"/>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763668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C42B892-4454-4017-B32E-8B193DFD21C5}" type="datetimeFigureOut">
              <a:rPr lang="en-NZ" smtClean="0"/>
              <a:t>28/06/2018</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6227404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C42B892-4454-4017-B32E-8B193DFD21C5}" type="datetimeFigureOut">
              <a:rPr lang="en-NZ" smtClean="0"/>
              <a:t>28/06/2018</a:t>
            </a:fld>
            <a:endParaRPr lang="en-NZ"/>
          </a:p>
        </p:txBody>
      </p:sp>
      <p:sp>
        <p:nvSpPr>
          <p:cNvPr id="6" name="Footer Placeholder 5"/>
          <p:cNvSpPr>
            <a:spLocks noGrp="1"/>
          </p:cNvSpPr>
          <p:nvPr>
            <p:ph type="ftr" sz="quarter" idx="11"/>
          </p:nvPr>
        </p:nvSpPr>
        <p:spPr/>
        <p:txBody>
          <a:bodyPr/>
          <a:lstStyle/>
          <a:p>
            <a:endParaRPr lang="en-NZ"/>
          </a:p>
        </p:txBody>
      </p:sp>
      <p:sp>
        <p:nvSpPr>
          <p:cNvPr id="7" name="Slide Number Placeholder 6"/>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3131606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NZ"/>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p:txBody>
          <a:bodyPr/>
          <a:lstStyle/>
          <a:p>
            <a:fld id="{4C42B892-4454-4017-B32E-8B193DFD21C5}" type="datetimeFigureOut">
              <a:rPr lang="en-NZ" smtClean="0"/>
              <a:t>28/06/2018</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3788828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10"/>
          </p:nvPr>
        </p:nvSpPr>
        <p:spPr/>
        <p:txBody>
          <a:bodyPr/>
          <a:lstStyle/>
          <a:p>
            <a:fld id="{4C42B892-4454-4017-B32E-8B193DFD21C5}" type="datetimeFigureOut">
              <a:rPr lang="en-NZ" smtClean="0"/>
              <a:t>28/06/2018</a:t>
            </a:fld>
            <a:endParaRPr lang="en-NZ"/>
          </a:p>
        </p:txBody>
      </p:sp>
      <p:sp>
        <p:nvSpPr>
          <p:cNvPr id="5" name="Footer Placeholder 4"/>
          <p:cNvSpPr>
            <a:spLocks noGrp="1"/>
          </p:cNvSpPr>
          <p:nvPr>
            <p:ph type="ftr" sz="quarter" idx="11"/>
          </p:nvPr>
        </p:nvSpPr>
        <p:spPr/>
        <p:txBody>
          <a:bodyPr/>
          <a:lstStyle/>
          <a:p>
            <a:endParaRPr lang="en-NZ"/>
          </a:p>
        </p:txBody>
      </p:sp>
      <p:sp>
        <p:nvSpPr>
          <p:cNvPr id="6" name="Slide Number Placeholder 5"/>
          <p:cNvSpPr>
            <a:spLocks noGrp="1"/>
          </p:cNvSpPr>
          <p:nvPr>
            <p:ph type="sldNum" sz="quarter" idx="12"/>
          </p:nvPr>
        </p:nvSpPr>
        <p:spPr/>
        <p:txBody>
          <a:bodyPr/>
          <a:lstStyle/>
          <a:p>
            <a:fld id="{1DD21ABA-B0A9-4A54-8035-5FB6A7F98B93}" type="slidenum">
              <a:rPr lang="en-NZ" smtClean="0"/>
              <a:t>‹#›</a:t>
            </a:fld>
            <a:endParaRPr lang="en-NZ"/>
          </a:p>
        </p:txBody>
      </p:sp>
    </p:spTree>
    <p:extLst>
      <p:ext uri="{BB962C8B-B14F-4D97-AF65-F5344CB8AC3E}">
        <p14:creationId xmlns:p14="http://schemas.microsoft.com/office/powerpoint/2010/main" val="7234723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42B892-4454-4017-B32E-8B193DFD21C5}" type="datetimeFigureOut">
              <a:rPr lang="en-NZ" smtClean="0"/>
              <a:t>28/06/2018</a:t>
            </a:fld>
            <a:endParaRPr lang="en-NZ"/>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D21ABA-B0A9-4A54-8035-5FB6A7F98B93}" type="slidenum">
              <a:rPr lang="en-NZ" smtClean="0"/>
              <a:t>‹#›</a:t>
            </a:fld>
            <a:endParaRPr lang="en-NZ"/>
          </a:p>
        </p:txBody>
      </p:sp>
    </p:spTree>
    <p:extLst>
      <p:ext uri="{BB962C8B-B14F-4D97-AF65-F5344CB8AC3E}">
        <p14:creationId xmlns:p14="http://schemas.microsoft.com/office/powerpoint/2010/main" val="27544532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12factor.net/" TargetMode="External"/><Relationship Id="rId2" Type="http://schemas.openxmlformats.org/officeDocument/2006/relationships/hyperlink" Target="https://devopsnz.slack.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9"/>
          <p:cNvSpPr>
            <a:spLocks noGrp="1"/>
          </p:cNvSpPr>
          <p:nvPr>
            <p:ph idx="1"/>
          </p:nvPr>
        </p:nvSpPr>
        <p:spPr>
          <a:xfrm>
            <a:off x="665708" y="1725337"/>
            <a:ext cx="10340648" cy="556470"/>
          </a:xfrm>
        </p:spPr>
        <p:txBody>
          <a:bodyPr>
            <a:noAutofit/>
          </a:bodyPr>
          <a:lstStyle/>
          <a:p>
            <a:pPr marL="0" indent="0">
              <a:buNone/>
            </a:pPr>
            <a:r>
              <a:rPr lang="en-US" sz="4800" b="1" dirty="0">
                <a:solidFill>
                  <a:srgbClr val="C00000"/>
                </a:solidFill>
              </a:rPr>
              <a:t>Banking On Containers: </a:t>
            </a:r>
          </a:p>
          <a:p>
            <a:pPr marL="0" indent="0">
              <a:buNone/>
            </a:pPr>
            <a:r>
              <a:rPr lang="en-US" sz="4800" b="1" dirty="0">
                <a:solidFill>
                  <a:srgbClr val="C00000"/>
                </a:solidFill>
              </a:rPr>
              <a:t>Need for Speed</a:t>
            </a:r>
          </a:p>
        </p:txBody>
      </p:sp>
      <p:sp>
        <p:nvSpPr>
          <p:cNvPr id="6" name="Rectangle 5"/>
          <p:cNvSpPr/>
          <p:nvPr/>
        </p:nvSpPr>
        <p:spPr>
          <a:xfrm>
            <a:off x="725531" y="3313652"/>
            <a:ext cx="3657989" cy="769441"/>
          </a:xfrm>
          <a:prstGeom prst="rect">
            <a:avLst/>
          </a:prstGeom>
        </p:spPr>
        <p:txBody>
          <a:bodyPr wrap="none">
            <a:spAutoFit/>
          </a:bodyPr>
          <a:lstStyle/>
          <a:p>
            <a:r>
              <a:rPr lang="en-NZ" sz="2800" dirty="0"/>
              <a:t>BMK </a:t>
            </a:r>
            <a:r>
              <a:rPr lang="en-NZ" sz="2800" dirty="0" err="1"/>
              <a:t>Lakshminarayanan</a:t>
            </a:r>
            <a:endParaRPr lang="en-NZ" sz="2800" dirty="0"/>
          </a:p>
          <a:p>
            <a:r>
              <a:rPr lang="en-NZ" sz="1600" dirty="0"/>
              <a:t>Solutions Architect</a:t>
            </a:r>
          </a:p>
        </p:txBody>
      </p:sp>
      <p:pic>
        <p:nvPicPr>
          <p:cNvPr id="15" name="Picture 14"/>
          <p:cNvPicPr>
            <a:picLocks noChangeAspect="1"/>
          </p:cNvPicPr>
          <p:nvPr/>
        </p:nvPicPr>
        <p:blipFill>
          <a:blip r:embed="rId3"/>
          <a:stretch>
            <a:fillRect/>
          </a:stretch>
        </p:blipFill>
        <p:spPr>
          <a:xfrm>
            <a:off x="8795740" y="1725337"/>
            <a:ext cx="2136407" cy="1253167"/>
          </a:xfrm>
          <a:prstGeom prst="rect">
            <a:avLst/>
          </a:prstGeom>
        </p:spPr>
      </p:pic>
      <p:pic>
        <p:nvPicPr>
          <p:cNvPr id="2" name="Picture 1"/>
          <p:cNvPicPr>
            <a:picLocks noChangeAspect="1"/>
          </p:cNvPicPr>
          <p:nvPr/>
        </p:nvPicPr>
        <p:blipFill>
          <a:blip r:embed="rId4"/>
          <a:stretch>
            <a:fillRect/>
          </a:stretch>
        </p:blipFill>
        <p:spPr>
          <a:xfrm>
            <a:off x="3559116" y="5286244"/>
            <a:ext cx="5543550" cy="1000125"/>
          </a:xfrm>
          <a:prstGeom prst="rect">
            <a:avLst/>
          </a:prstGeom>
        </p:spPr>
      </p:pic>
    </p:spTree>
    <p:extLst>
      <p:ext uri="{BB962C8B-B14F-4D97-AF65-F5344CB8AC3E}">
        <p14:creationId xmlns:p14="http://schemas.microsoft.com/office/powerpoint/2010/main" val="3456678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7092985" y="2586810"/>
            <a:ext cx="4260814" cy="2503227"/>
          </a:xfrm>
          <a:prstGeom prst="rect">
            <a:avLst/>
          </a:prstGeom>
        </p:spPr>
      </p:pic>
      <p:sp>
        <p:nvSpPr>
          <p:cNvPr id="12" name="Freeform: Shape 11">
            <a:extLst>
              <a:ext uri="{FF2B5EF4-FFF2-40B4-BE49-F238E27FC236}">
                <a16:creationId xmlns:a16="http://schemas.microsoft.com/office/drawing/2014/main" id="{64965EAE-E41A-435F-B993-07E824B6C977}"/>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0"/>
            <a:ext cx="7539895" cy="6858000"/>
          </a:xfrm>
          <a:custGeom>
            <a:avLst/>
            <a:gdLst>
              <a:gd name="connsiteX0" fmla="*/ 7539895 w 7539895"/>
              <a:gd name="connsiteY0" fmla="*/ 6858000 h 6858000"/>
              <a:gd name="connsiteX1" fmla="*/ 0 w 7539895"/>
              <a:gd name="connsiteY1" fmla="*/ 6858000 h 6858000"/>
              <a:gd name="connsiteX2" fmla="*/ 0 w 7539895"/>
              <a:gd name="connsiteY2" fmla="*/ 0 h 6858000"/>
              <a:gd name="connsiteX3" fmla="*/ 4363741 w 7539895"/>
              <a:gd name="connsiteY3" fmla="*/ 0 h 6858000"/>
            </a:gdLst>
            <a:ahLst/>
            <a:cxnLst>
              <a:cxn ang="0">
                <a:pos x="connsiteX0" y="connsiteY0"/>
              </a:cxn>
              <a:cxn ang="0">
                <a:pos x="connsiteX1" y="connsiteY1"/>
              </a:cxn>
              <a:cxn ang="0">
                <a:pos x="connsiteX2" y="connsiteY2"/>
              </a:cxn>
              <a:cxn ang="0">
                <a:pos x="connsiteX3" y="connsiteY3"/>
              </a:cxn>
            </a:cxnLst>
            <a:rect l="l" t="t" r="r" b="b"/>
            <a:pathLst>
              <a:path w="7539895" h="6858000">
                <a:moveTo>
                  <a:pt x="7539895" y="6858000"/>
                </a:moveTo>
                <a:lnTo>
                  <a:pt x="0" y="6858000"/>
                </a:lnTo>
                <a:lnTo>
                  <a:pt x="0" y="0"/>
                </a:lnTo>
                <a:lnTo>
                  <a:pt x="4363741" y="0"/>
                </a:lnTo>
                <a:close/>
              </a:path>
            </a:pathLst>
          </a:cu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152F8994-E6D4-4311-9548-C3607BC43645}"/>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7092985" cy="6858000"/>
          </a:xfrm>
          <a:custGeom>
            <a:avLst/>
            <a:gdLst>
              <a:gd name="connsiteX0" fmla="*/ 7092985 w 7092985"/>
              <a:gd name="connsiteY0" fmla="*/ 6858000 h 6858000"/>
              <a:gd name="connsiteX1" fmla="*/ 0 w 7092985"/>
              <a:gd name="connsiteY1" fmla="*/ 6858000 h 6858000"/>
              <a:gd name="connsiteX2" fmla="*/ 0 w 7092985"/>
              <a:gd name="connsiteY2" fmla="*/ 0 h 6858000"/>
              <a:gd name="connsiteX3" fmla="*/ 3916831 w 7092985"/>
              <a:gd name="connsiteY3" fmla="*/ 0 h 6858000"/>
            </a:gdLst>
            <a:ahLst/>
            <a:cxnLst>
              <a:cxn ang="0">
                <a:pos x="connsiteX0" y="connsiteY0"/>
              </a:cxn>
              <a:cxn ang="0">
                <a:pos x="connsiteX1" y="connsiteY1"/>
              </a:cxn>
              <a:cxn ang="0">
                <a:pos x="connsiteX2" y="connsiteY2"/>
              </a:cxn>
              <a:cxn ang="0">
                <a:pos x="connsiteX3" y="connsiteY3"/>
              </a:cxn>
            </a:cxnLst>
            <a:rect l="l" t="t" r="r" b="b"/>
            <a:pathLst>
              <a:path w="7092985" h="6858000">
                <a:moveTo>
                  <a:pt x="7092985" y="6858000"/>
                </a:moveTo>
                <a:lnTo>
                  <a:pt x="0" y="6858000"/>
                </a:lnTo>
                <a:lnTo>
                  <a:pt x="0" y="0"/>
                </a:lnTo>
                <a:lnTo>
                  <a:pt x="3916831" y="0"/>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38199" y="365125"/>
            <a:ext cx="6047793" cy="1325563"/>
          </a:xfrm>
        </p:spPr>
        <p:txBody>
          <a:bodyPr>
            <a:normAutofit/>
          </a:bodyPr>
          <a:lstStyle/>
          <a:p>
            <a:r>
              <a:rPr lang="en-NZ" b="1" dirty="0">
                <a:solidFill>
                  <a:schemeClr val="bg1"/>
                </a:solidFill>
                <a:latin typeface="+mn-lt"/>
                <a:ea typeface="+mn-ea"/>
                <a:cs typeface="+mn-cs"/>
              </a:rPr>
              <a:t>150+ Years in Banking </a:t>
            </a:r>
            <a:br>
              <a:rPr lang="en-NZ" b="1" dirty="0">
                <a:solidFill>
                  <a:schemeClr val="bg1"/>
                </a:solidFill>
                <a:latin typeface="+mn-lt"/>
                <a:ea typeface="+mn-ea"/>
                <a:cs typeface="+mn-cs"/>
              </a:rPr>
            </a:br>
            <a:r>
              <a:rPr lang="en-NZ" b="1" dirty="0">
                <a:solidFill>
                  <a:schemeClr val="bg1"/>
                </a:solidFill>
                <a:latin typeface="+mn-lt"/>
                <a:ea typeface="+mn-ea"/>
                <a:cs typeface="+mn-cs"/>
              </a:rPr>
              <a:t>for New Zealand</a:t>
            </a:r>
          </a:p>
        </p:txBody>
      </p:sp>
      <p:sp>
        <p:nvSpPr>
          <p:cNvPr id="3" name="Content Placeholder 2"/>
          <p:cNvSpPr>
            <a:spLocks noGrp="1"/>
          </p:cNvSpPr>
          <p:nvPr>
            <p:ph idx="1"/>
          </p:nvPr>
        </p:nvSpPr>
        <p:spPr>
          <a:xfrm>
            <a:off x="838199" y="1825625"/>
            <a:ext cx="4572700" cy="2058478"/>
          </a:xfrm>
        </p:spPr>
        <p:txBody>
          <a:bodyPr>
            <a:normAutofit/>
          </a:bodyPr>
          <a:lstStyle/>
          <a:p>
            <a:pPr marL="0" indent="0" algn="just">
              <a:buNone/>
            </a:pPr>
            <a:r>
              <a:rPr lang="en-NZ" sz="2000" dirty="0">
                <a:solidFill>
                  <a:schemeClr val="bg1"/>
                </a:solidFill>
              </a:rPr>
              <a:t>Bank of New Zealand is one of New Zealand's largest banks and has been operating continuously in the country since the first office was opened in Auckland in October 1861 followed shortly after by the first branch in Dunedin in December 1861</a:t>
            </a:r>
          </a:p>
        </p:txBody>
      </p:sp>
    </p:spTree>
    <p:extLst>
      <p:ext uri="{BB962C8B-B14F-4D97-AF65-F5344CB8AC3E}">
        <p14:creationId xmlns:p14="http://schemas.microsoft.com/office/powerpoint/2010/main" val="7222274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946169" y="481264"/>
            <a:ext cx="2781276" cy="286730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0677" y="485775"/>
            <a:ext cx="2203222" cy="28627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43561" y="3511487"/>
            <a:ext cx="2783884" cy="2855023"/>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Connector 28"/>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08782" y="1701532"/>
            <a:ext cx="4572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 name="Picture 4"/>
          <p:cNvPicPr>
            <a:picLocks noChangeAspect="1"/>
          </p:cNvPicPr>
          <p:nvPr/>
        </p:nvPicPr>
        <p:blipFill>
          <a:blip r:embed="rId2"/>
          <a:stretch>
            <a:fillRect/>
          </a:stretch>
        </p:blipFill>
        <p:spPr>
          <a:xfrm>
            <a:off x="9105635" y="4301207"/>
            <a:ext cx="2459736" cy="1273531"/>
          </a:xfrm>
          <a:prstGeom prst="rect">
            <a:avLst/>
          </a:prstGeom>
        </p:spPr>
      </p:pic>
      <p:pic>
        <p:nvPicPr>
          <p:cNvPr id="7" name="Picture 6"/>
          <p:cNvPicPr>
            <a:picLocks noChangeAspect="1"/>
          </p:cNvPicPr>
          <p:nvPr/>
        </p:nvPicPr>
        <p:blipFill>
          <a:blip r:embed="rId3"/>
          <a:stretch>
            <a:fillRect/>
          </a:stretch>
        </p:blipFill>
        <p:spPr>
          <a:xfrm>
            <a:off x="6715643" y="747436"/>
            <a:ext cx="1883664" cy="2334958"/>
          </a:xfrm>
          <a:prstGeom prst="rect">
            <a:avLst/>
          </a:prstGeom>
        </p:spPr>
      </p:pic>
      <p:pic>
        <p:nvPicPr>
          <p:cNvPr id="9" name="Picture 8"/>
          <p:cNvPicPr>
            <a:picLocks noChangeAspect="1"/>
          </p:cNvPicPr>
          <p:nvPr/>
        </p:nvPicPr>
        <p:blipFill>
          <a:blip r:embed="rId4"/>
          <a:stretch>
            <a:fillRect/>
          </a:stretch>
        </p:blipFill>
        <p:spPr>
          <a:xfrm>
            <a:off x="9105634" y="695099"/>
            <a:ext cx="2459737" cy="2435139"/>
          </a:xfrm>
          <a:prstGeom prst="rect">
            <a:avLst/>
          </a:prstGeom>
        </p:spPr>
      </p:pic>
      <p:sp>
        <p:nvSpPr>
          <p:cNvPr id="31" name="Rectangle 30"/>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60677" y="3511487"/>
            <a:ext cx="2203222" cy="286279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p:cNvPicPr>
            <a:picLocks noChangeAspect="1"/>
          </p:cNvPicPr>
          <p:nvPr/>
        </p:nvPicPr>
        <p:blipFill>
          <a:blip r:embed="rId5"/>
          <a:stretch>
            <a:fillRect/>
          </a:stretch>
        </p:blipFill>
        <p:spPr>
          <a:xfrm>
            <a:off x="6715644" y="3867710"/>
            <a:ext cx="1883664" cy="2140527"/>
          </a:xfrm>
          <a:prstGeom prst="rect">
            <a:avLst/>
          </a:prstGeom>
        </p:spPr>
      </p:pic>
      <p:sp>
        <p:nvSpPr>
          <p:cNvPr id="4" name="Content Placeholder 9"/>
          <p:cNvSpPr>
            <a:spLocks noGrp="1"/>
          </p:cNvSpPr>
          <p:nvPr>
            <p:ph idx="1"/>
          </p:nvPr>
        </p:nvSpPr>
        <p:spPr>
          <a:xfrm>
            <a:off x="716902" y="1695243"/>
            <a:ext cx="4981734" cy="4312994"/>
          </a:xfrm>
        </p:spPr>
        <p:txBody>
          <a:bodyPr>
            <a:normAutofit/>
          </a:bodyPr>
          <a:lstStyle/>
          <a:p>
            <a:pPr marL="0" indent="0">
              <a:spcBef>
                <a:spcPct val="0"/>
              </a:spcBef>
              <a:buNone/>
            </a:pPr>
            <a:r>
              <a:rPr lang="en-US" sz="4800" b="1" dirty="0">
                <a:solidFill>
                  <a:srgbClr val="C00000"/>
                </a:solidFill>
              </a:rPr>
              <a:t>“Operation” is the Business</a:t>
            </a:r>
          </a:p>
        </p:txBody>
      </p:sp>
    </p:spTree>
    <p:extLst>
      <p:ext uri="{BB962C8B-B14F-4D97-AF65-F5344CB8AC3E}">
        <p14:creationId xmlns:p14="http://schemas.microsoft.com/office/powerpoint/2010/main" val="35264338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rgbClr val="C00000"/>
                </a:solidFill>
              </a:rPr>
              <a:t>Challenges and Opportunities	</a:t>
            </a:r>
            <a:endParaRPr lang="en-NZ" dirty="0"/>
          </a:p>
        </p:txBody>
      </p:sp>
      <p:sp>
        <p:nvSpPr>
          <p:cNvPr id="3" name="Content Placeholder 2"/>
          <p:cNvSpPr>
            <a:spLocks noGrp="1"/>
          </p:cNvSpPr>
          <p:nvPr>
            <p:ph idx="1"/>
          </p:nvPr>
        </p:nvSpPr>
        <p:spPr/>
        <p:txBody>
          <a:bodyPr/>
          <a:lstStyle/>
          <a:p>
            <a:r>
              <a:rPr lang="en-NZ" dirty="0"/>
              <a:t>Consistency</a:t>
            </a:r>
          </a:p>
          <a:p>
            <a:r>
              <a:rPr lang="en-NZ" dirty="0"/>
              <a:t>Application Build</a:t>
            </a:r>
          </a:p>
          <a:p>
            <a:r>
              <a:rPr lang="en-NZ" dirty="0"/>
              <a:t>Deployments</a:t>
            </a:r>
          </a:p>
          <a:p>
            <a:r>
              <a:rPr lang="en-NZ" dirty="0"/>
              <a:t>Scaling</a:t>
            </a:r>
          </a:p>
          <a:p>
            <a:r>
              <a:rPr lang="en-NZ" dirty="0"/>
              <a:t>Health Management</a:t>
            </a:r>
          </a:p>
        </p:txBody>
      </p:sp>
    </p:spTree>
    <p:extLst>
      <p:ext uri="{BB962C8B-B14F-4D97-AF65-F5344CB8AC3E}">
        <p14:creationId xmlns:p14="http://schemas.microsoft.com/office/powerpoint/2010/main" val="3663837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https://www.nebulaworks.com/blog/wp-content/uploads/2016/08/01-docker-container.jpg"/>
          <p:cNvPicPr>
            <a:picLocks noChangeAspect="1" noChangeArrowheads="1"/>
          </p:cNvPicPr>
          <p:nvPr/>
        </p:nvPicPr>
        <p:blipFill rotWithShape="1">
          <a:blip r:embed="rId2">
            <a:extLst>
              <a:ext uri="{28A0092B-C50C-407E-A947-70E740481C1C}">
                <a14:useLocalDpi xmlns:a14="http://schemas.microsoft.com/office/drawing/2010/main" val="0"/>
              </a:ext>
            </a:extLst>
          </a:blip>
          <a:srcRect t="7015" r="1" b="4821"/>
          <a:stretch/>
        </p:blipFill>
        <p:spPr bwMode="auto">
          <a:xfrm>
            <a:off x="5120640" y="1904281"/>
            <a:ext cx="6233160" cy="4272681"/>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9"/>
          <p:cNvSpPr>
            <a:spLocks noGrp="1"/>
          </p:cNvSpPr>
          <p:nvPr>
            <p:ph idx="1"/>
          </p:nvPr>
        </p:nvSpPr>
        <p:spPr>
          <a:xfrm>
            <a:off x="838200" y="1825625"/>
            <a:ext cx="4983760" cy="4138947"/>
          </a:xfrm>
        </p:spPr>
        <p:txBody>
          <a:bodyPr>
            <a:normAutofit/>
          </a:bodyPr>
          <a:lstStyle/>
          <a:p>
            <a:pPr marL="0" indent="0">
              <a:spcBef>
                <a:spcPct val="0"/>
              </a:spcBef>
              <a:spcAft>
                <a:spcPts val="600"/>
              </a:spcAft>
              <a:buNone/>
            </a:pPr>
            <a:r>
              <a:rPr lang="en-US" sz="4800" b="1" dirty="0">
                <a:solidFill>
                  <a:srgbClr val="C00000"/>
                </a:solidFill>
              </a:rPr>
              <a:t>Containers are game changers</a:t>
            </a:r>
          </a:p>
        </p:txBody>
      </p:sp>
    </p:spTree>
    <p:extLst>
      <p:ext uri="{BB962C8B-B14F-4D97-AF65-F5344CB8AC3E}">
        <p14:creationId xmlns:p14="http://schemas.microsoft.com/office/powerpoint/2010/main" val="2920973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8" name="Picture 10" descr="Image result for redhat openshift enterpris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8858" y="1331334"/>
            <a:ext cx="4914900" cy="3524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157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rgbClr val="C00000"/>
                </a:solidFill>
              </a:rPr>
              <a:t>New (real) Challenges	</a:t>
            </a:r>
            <a:endParaRPr lang="en-NZ" dirty="0"/>
          </a:p>
        </p:txBody>
      </p:sp>
      <p:sp>
        <p:nvSpPr>
          <p:cNvPr id="5" name="AutoShape 4" descr="barack obama challenges GIF by Obama"/>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NZ"/>
          </a:p>
        </p:txBody>
      </p:sp>
      <p:pic>
        <p:nvPicPr>
          <p:cNvPr id="3078" name="Picture 6" descr="barack obama challenges GIF by Obama"/>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745259" y="1566218"/>
            <a:ext cx="6396681" cy="4797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7284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solidFill>
                  <a:srgbClr val="C00000"/>
                </a:solidFill>
              </a:rPr>
              <a:t>New Challenges	</a:t>
            </a:r>
            <a:endParaRPr lang="en-NZ" dirty="0"/>
          </a:p>
        </p:txBody>
      </p:sp>
      <p:sp>
        <p:nvSpPr>
          <p:cNvPr id="3" name="Content Placeholder 2"/>
          <p:cNvSpPr>
            <a:spLocks noGrp="1"/>
          </p:cNvSpPr>
          <p:nvPr>
            <p:ph idx="1"/>
          </p:nvPr>
        </p:nvSpPr>
        <p:spPr/>
        <p:txBody>
          <a:bodyPr/>
          <a:lstStyle/>
          <a:p>
            <a:r>
              <a:rPr lang="en-NZ" dirty="0"/>
              <a:t>Enterprise – Integrating with governance and security</a:t>
            </a:r>
          </a:p>
          <a:p>
            <a:r>
              <a:rPr lang="en-NZ" dirty="0"/>
              <a:t>Monitoring</a:t>
            </a:r>
          </a:p>
          <a:p>
            <a:r>
              <a:rPr lang="en-NZ" dirty="0"/>
              <a:t>Services &amp; Application logs</a:t>
            </a:r>
          </a:p>
          <a:p>
            <a:r>
              <a:rPr lang="en-NZ" dirty="0"/>
              <a:t>Monolith to Microservices</a:t>
            </a:r>
          </a:p>
          <a:p>
            <a:r>
              <a:rPr lang="en-NZ" dirty="0"/>
              <a:t>Building PaaS / Cloud native applications</a:t>
            </a:r>
          </a:p>
          <a:p>
            <a:pPr marL="0" indent="0">
              <a:buNone/>
            </a:pPr>
            <a:endParaRPr lang="en-NZ" dirty="0"/>
          </a:p>
        </p:txBody>
      </p:sp>
    </p:spTree>
    <p:extLst>
      <p:ext uri="{BB962C8B-B14F-4D97-AF65-F5344CB8AC3E}">
        <p14:creationId xmlns:p14="http://schemas.microsoft.com/office/powerpoint/2010/main" val="1312422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78244" y="5532438"/>
            <a:ext cx="10515600" cy="1099022"/>
          </a:xfrm>
        </p:spPr>
        <p:txBody>
          <a:bodyPr/>
          <a:lstStyle/>
          <a:p>
            <a:r>
              <a:rPr lang="en-NZ" b="1" i="1" dirty="0"/>
              <a:t>Silos are #1 enemy of throughput and quality</a:t>
            </a:r>
          </a:p>
        </p:txBody>
      </p:sp>
      <p:pic>
        <p:nvPicPr>
          <p:cNvPr id="5" name="Content Placeholder 3"/>
          <p:cNvPicPr>
            <a:picLocks noGrp="1" noChangeAspect="1"/>
          </p:cNvPicPr>
          <p:nvPr>
            <p:ph idx="1"/>
          </p:nvPr>
        </p:nvPicPr>
        <p:blipFill>
          <a:blip r:embed="rId3"/>
          <a:stretch>
            <a:fillRect/>
          </a:stretch>
        </p:blipFill>
        <p:spPr>
          <a:xfrm>
            <a:off x="2159273" y="461319"/>
            <a:ext cx="7442658" cy="5097806"/>
          </a:xfrm>
          <a:prstGeom prst="rect">
            <a:avLst/>
          </a:prstGeom>
        </p:spPr>
      </p:pic>
      <p:sp>
        <p:nvSpPr>
          <p:cNvPr id="6" name="TextBox 5"/>
          <p:cNvSpPr txBox="1"/>
          <p:nvPr/>
        </p:nvSpPr>
        <p:spPr>
          <a:xfrm>
            <a:off x="8808084" y="5255439"/>
            <a:ext cx="1963024" cy="276999"/>
          </a:xfrm>
          <a:prstGeom prst="rect">
            <a:avLst/>
          </a:prstGeom>
          <a:noFill/>
        </p:spPr>
        <p:txBody>
          <a:bodyPr wrap="square" rtlCol="0">
            <a:spAutoFit/>
          </a:bodyPr>
          <a:lstStyle/>
          <a:p>
            <a:r>
              <a:rPr lang="en-NZ" sz="1200" dirty="0"/>
              <a:t>-Damon Edwards</a:t>
            </a:r>
          </a:p>
        </p:txBody>
      </p:sp>
    </p:spTree>
    <p:extLst>
      <p:ext uri="{BB962C8B-B14F-4D97-AF65-F5344CB8AC3E}">
        <p14:creationId xmlns:p14="http://schemas.microsoft.com/office/powerpoint/2010/main" val="3847196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2" presetClass="emph" presetSubtype="0" fill="hold" grpId="0" nodeType="clickEffect">
                                  <p:stCondLst>
                                    <p:cond delay="0"/>
                                  </p:stCondLst>
                                  <p:childTnLst>
                                    <p:animRot by="120000">
                                      <p:cBhvr>
                                        <p:cTn id="11" dur="100" fill="hold">
                                          <p:stCondLst>
                                            <p:cond delay="0"/>
                                          </p:stCondLst>
                                        </p:cTn>
                                        <p:tgtEl>
                                          <p:spTgt spid="4"/>
                                        </p:tgtEl>
                                        <p:attrNameLst>
                                          <p:attrName>r</p:attrName>
                                        </p:attrNameLst>
                                      </p:cBhvr>
                                    </p:animRot>
                                    <p:animRot by="-240000">
                                      <p:cBhvr>
                                        <p:cTn id="12" dur="200" fill="hold">
                                          <p:stCondLst>
                                            <p:cond delay="200"/>
                                          </p:stCondLst>
                                        </p:cTn>
                                        <p:tgtEl>
                                          <p:spTgt spid="4"/>
                                        </p:tgtEl>
                                        <p:attrNameLst>
                                          <p:attrName>r</p:attrName>
                                        </p:attrNameLst>
                                      </p:cBhvr>
                                    </p:animRot>
                                    <p:animRot by="240000">
                                      <p:cBhvr>
                                        <p:cTn id="13" dur="200" fill="hold">
                                          <p:stCondLst>
                                            <p:cond delay="400"/>
                                          </p:stCondLst>
                                        </p:cTn>
                                        <p:tgtEl>
                                          <p:spTgt spid="4"/>
                                        </p:tgtEl>
                                        <p:attrNameLst>
                                          <p:attrName>r</p:attrName>
                                        </p:attrNameLst>
                                      </p:cBhvr>
                                    </p:animRot>
                                    <p:animRot by="-240000">
                                      <p:cBhvr>
                                        <p:cTn id="14" dur="200" fill="hold">
                                          <p:stCondLst>
                                            <p:cond delay="600"/>
                                          </p:stCondLst>
                                        </p:cTn>
                                        <p:tgtEl>
                                          <p:spTgt spid="4"/>
                                        </p:tgtEl>
                                        <p:attrNameLst>
                                          <p:attrName>r</p:attrName>
                                        </p:attrNameLst>
                                      </p:cBhvr>
                                    </p:animRot>
                                    <p:animRot by="120000">
                                      <p:cBhvr>
                                        <p:cTn id="15" dur="200" fill="hold">
                                          <p:stCondLst>
                                            <p:cond delay="800"/>
                                          </p:stCondLst>
                                        </p:cTn>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sz="4800" b="1" dirty="0">
                <a:solidFill>
                  <a:srgbClr val="C00000"/>
                </a:solidFill>
                <a:latin typeface="+mn-lt"/>
                <a:ea typeface="+mn-ea"/>
                <a:cs typeface="+mn-cs"/>
              </a:rPr>
              <a:t>DevOps @ Bnz</a:t>
            </a:r>
          </a:p>
        </p:txBody>
      </p:sp>
      <p:sp>
        <p:nvSpPr>
          <p:cNvPr id="3" name="Content Placeholder 2"/>
          <p:cNvSpPr>
            <a:spLocks noGrp="1"/>
          </p:cNvSpPr>
          <p:nvPr>
            <p:ph idx="1"/>
          </p:nvPr>
        </p:nvSpPr>
        <p:spPr/>
        <p:txBody>
          <a:bodyPr/>
          <a:lstStyle/>
          <a:p>
            <a:r>
              <a:rPr lang="en-NZ" dirty="0"/>
              <a:t>Self-service offering | </a:t>
            </a:r>
            <a:r>
              <a:rPr lang="en-NZ" dirty="0">
                <a:solidFill>
                  <a:srgbClr val="C00000"/>
                </a:solidFill>
              </a:rPr>
              <a:t>Provision your own Dev, Test boxes</a:t>
            </a:r>
          </a:p>
          <a:p>
            <a:r>
              <a:rPr lang="en-NZ" dirty="0"/>
              <a:t>Application performance monitoring | </a:t>
            </a:r>
            <a:r>
              <a:rPr lang="en-NZ" dirty="0">
                <a:solidFill>
                  <a:srgbClr val="C00000"/>
                </a:solidFill>
              </a:rPr>
              <a:t>Run, Monitor, Manage, Learn</a:t>
            </a:r>
          </a:p>
          <a:p>
            <a:r>
              <a:rPr lang="en-NZ" dirty="0" err="1"/>
              <a:t>Microservices</a:t>
            </a:r>
            <a:r>
              <a:rPr lang="en-NZ" dirty="0"/>
              <a:t> and Containers | </a:t>
            </a:r>
            <a:r>
              <a:rPr lang="en-NZ" dirty="0">
                <a:solidFill>
                  <a:srgbClr val="C00000"/>
                </a:solidFill>
              </a:rPr>
              <a:t>Immutable Infrastructures</a:t>
            </a:r>
          </a:p>
          <a:p>
            <a:r>
              <a:rPr lang="en-NZ" dirty="0"/>
              <a:t>Infrastructure automation and PaaS offerings | </a:t>
            </a:r>
            <a:r>
              <a:rPr lang="en-NZ" dirty="0">
                <a:solidFill>
                  <a:srgbClr val="C00000"/>
                </a:solidFill>
              </a:rPr>
              <a:t>3 days to 30 minutes</a:t>
            </a:r>
          </a:p>
          <a:p>
            <a:r>
              <a:rPr lang="en-NZ" dirty="0"/>
              <a:t>Squads, Tribes | </a:t>
            </a:r>
            <a:r>
              <a:rPr lang="en-NZ" dirty="0">
                <a:solidFill>
                  <a:srgbClr val="C00000"/>
                </a:solidFill>
              </a:rPr>
              <a:t>Co-located cross functional teams</a:t>
            </a:r>
          </a:p>
          <a:p>
            <a:r>
              <a:rPr lang="en-NZ" dirty="0"/>
              <a:t>Automated Deployments| </a:t>
            </a:r>
            <a:r>
              <a:rPr lang="en-NZ" dirty="0">
                <a:solidFill>
                  <a:srgbClr val="C00000"/>
                </a:solidFill>
              </a:rPr>
              <a:t>2 Hours to 20 seconds</a:t>
            </a:r>
          </a:p>
          <a:p>
            <a:r>
              <a:rPr lang="en-NZ" dirty="0" err="1"/>
              <a:t>DevSecOps</a:t>
            </a:r>
            <a:r>
              <a:rPr lang="en-NZ" dirty="0"/>
              <a:t>| </a:t>
            </a:r>
            <a:r>
              <a:rPr lang="en-NZ" dirty="0">
                <a:solidFill>
                  <a:srgbClr val="C00000"/>
                </a:solidFill>
              </a:rPr>
              <a:t>Shifting left</a:t>
            </a:r>
          </a:p>
          <a:p>
            <a:endParaRPr lang="en-NZ" dirty="0">
              <a:solidFill>
                <a:srgbClr val="C00000"/>
              </a:solidFill>
            </a:endParaRPr>
          </a:p>
          <a:p>
            <a:endParaRPr lang="en-NZ" dirty="0">
              <a:solidFill>
                <a:srgbClr val="C00000"/>
              </a:solidFill>
            </a:endParaRPr>
          </a:p>
          <a:p>
            <a:endParaRPr lang="en-NZ" dirty="0">
              <a:solidFill>
                <a:srgbClr val="C00000"/>
              </a:solidFill>
            </a:endParaRPr>
          </a:p>
          <a:p>
            <a:endParaRPr lang="en-NZ" dirty="0"/>
          </a:p>
        </p:txBody>
      </p:sp>
    </p:spTree>
    <p:extLst>
      <p:ext uri="{BB962C8B-B14F-4D97-AF65-F5344CB8AC3E}">
        <p14:creationId xmlns:p14="http://schemas.microsoft.com/office/powerpoint/2010/main" val="215009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NZ" sz="4800" b="1" dirty="0">
                <a:solidFill>
                  <a:srgbClr val="C00000"/>
                </a:solidFill>
                <a:latin typeface="+mn-lt"/>
                <a:ea typeface="+mn-ea"/>
                <a:cs typeface="+mn-cs"/>
              </a:rPr>
              <a:t>Resources</a:t>
            </a:r>
          </a:p>
        </p:txBody>
      </p:sp>
      <p:sp>
        <p:nvSpPr>
          <p:cNvPr id="3" name="Content Placeholder 2"/>
          <p:cNvSpPr>
            <a:spLocks noGrp="1"/>
          </p:cNvSpPr>
          <p:nvPr>
            <p:ph idx="1"/>
          </p:nvPr>
        </p:nvSpPr>
        <p:spPr/>
        <p:txBody>
          <a:bodyPr/>
          <a:lstStyle/>
          <a:p>
            <a:r>
              <a:rPr lang="en-NZ" dirty="0"/>
              <a:t>https://blog.openshift.com/</a:t>
            </a:r>
          </a:p>
          <a:p>
            <a:r>
              <a:rPr lang="en-NZ" dirty="0"/>
              <a:t>DevOpsDays NZ conference | follow us @devopsdaysnz</a:t>
            </a:r>
          </a:p>
          <a:p>
            <a:r>
              <a:rPr lang="en-NZ" dirty="0"/>
              <a:t>Wellington Enterprise DevOps meetup and OpenShift meetup</a:t>
            </a:r>
          </a:p>
          <a:p>
            <a:r>
              <a:rPr lang="en-NZ" dirty="0">
                <a:hlinkClick r:id="rId2"/>
              </a:rPr>
              <a:t>https://devopsnz.slack.com/</a:t>
            </a:r>
            <a:endParaRPr lang="en-NZ" dirty="0"/>
          </a:p>
          <a:p>
            <a:r>
              <a:rPr lang="en-NZ" dirty="0">
                <a:hlinkClick r:id="rId3"/>
              </a:rPr>
              <a:t>https://12factor.net/</a:t>
            </a:r>
            <a:endParaRPr lang="en-NZ" dirty="0"/>
          </a:p>
          <a:p>
            <a:r>
              <a:rPr lang="en-NZ" dirty="0"/>
              <a:t>Building </a:t>
            </a:r>
            <a:r>
              <a:rPr lang="en-NZ" dirty="0" err="1"/>
              <a:t>Microservices</a:t>
            </a:r>
            <a:r>
              <a:rPr lang="en-NZ" dirty="0"/>
              <a:t> by Sam Newman</a:t>
            </a:r>
          </a:p>
          <a:p>
            <a:r>
              <a:rPr lang="en-NZ" dirty="0"/>
              <a:t>#</a:t>
            </a:r>
            <a:r>
              <a:rPr lang="en-NZ" dirty="0" err="1"/>
              <a:t>devops</a:t>
            </a:r>
            <a:endParaRPr lang="en-NZ" dirty="0"/>
          </a:p>
          <a:p>
            <a:endParaRPr lang="en-NZ" dirty="0"/>
          </a:p>
        </p:txBody>
      </p:sp>
    </p:spTree>
    <p:extLst>
      <p:ext uri="{BB962C8B-B14F-4D97-AF65-F5344CB8AC3E}">
        <p14:creationId xmlns:p14="http://schemas.microsoft.com/office/powerpoint/2010/main" val="17055717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TotalTime>
  <Words>424</Words>
  <Application>Microsoft Office PowerPoint</Application>
  <PresentationFormat>Widescreen</PresentationFormat>
  <Paragraphs>145</Paragraphs>
  <Slides>11</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150+ Years in Banking  for New Zealand</vt:lpstr>
      <vt:lpstr>PowerPoint Presentation</vt:lpstr>
      <vt:lpstr>Challenges and Opportunities </vt:lpstr>
      <vt:lpstr>PowerPoint Presentation</vt:lpstr>
      <vt:lpstr>PowerPoint Presentation</vt:lpstr>
      <vt:lpstr>New (real) Challenges </vt:lpstr>
      <vt:lpstr>New Challenges </vt:lpstr>
      <vt:lpstr>Silos are #1 enemy of throughput and quality</vt:lpstr>
      <vt:lpstr>DevOps @ Bnz</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MSD BMK Improving Process for Agile Delivery</dc:title>
  <dc:creator>Balamuralikrishna lakshminarayanan</dc:creator>
  <cp:keywords>DevOps, BMK, Presentation, Continuous Improvment, Continuous Delivery</cp:keywords>
  <cp:lastModifiedBy>Bmk Lakshminarayan</cp:lastModifiedBy>
  <cp:revision>52</cp:revision>
  <dcterms:created xsi:type="dcterms:W3CDTF">2016-09-27T02:23:41Z</dcterms:created>
  <dcterms:modified xsi:type="dcterms:W3CDTF">2018-06-27T23:14:39Z</dcterms:modified>
  <cp:category>DevOps</cp:category>
</cp:coreProperties>
</file>